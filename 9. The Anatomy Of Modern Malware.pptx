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92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0"/>
            <a:ext cx="4830775" cy="6858000"/>
          </a:xfrm>
          <a:prstGeom prst="rect">
            <a:avLst/>
          </a:prstGeom>
          <a:solidFill>
            <a:srgbClr val="0D142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7360920" y="0"/>
            <a:ext cx="36576" cy="6858000"/>
          </a:xfrm>
          <a:prstGeom prst="rect">
            <a:avLst/>
          </a:prstGeom>
          <a:solidFill>
            <a:srgbClr val="2731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9776308" y="3429000"/>
            <a:ext cx="0" cy="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9776308" y="3429000"/>
            <a:ext cx="1417320" cy="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9776308" y="3429000"/>
            <a:ext cx="1600200" cy="114300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9776308" y="3429000"/>
            <a:ext cx="0" cy="132588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776308" y="3429000"/>
            <a:ext cx="0" cy="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9776308" y="3429000"/>
            <a:ext cx="182880" cy="224028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154516" y="2807208"/>
            <a:ext cx="1243584" cy="1243584"/>
          </a:xfrm>
          <a:prstGeom prst="ellipse">
            <a:avLst/>
          </a:prstGeom>
          <a:solidFill>
            <a:srgbClr val="F5A524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209380" y="2862072"/>
            <a:ext cx="1133856" cy="1133856"/>
          </a:xfrm>
          <a:prstGeom prst="ellipse">
            <a:avLst/>
          </a:prstGeom>
          <a:solidFill>
            <a:srgbClr val="1A2440"/>
          </a:solidFill>
          <a:ln w="190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536" y="3202229"/>
            <a:ext cx="453542" cy="45354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938364" y="1591056"/>
            <a:ext cx="841248" cy="841248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7993228" y="1645920"/>
            <a:ext cx="731520" cy="73152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684" y="1865376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773004" y="1773936"/>
            <a:ext cx="841248" cy="841248"/>
          </a:xfrm>
          <a:prstGeom prst="ellipse">
            <a:avLst/>
          </a:prstGeom>
          <a:solidFill>
            <a:srgbClr val="FBBF24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3"/>
          <p:cNvSpPr/>
          <p:nvPr/>
        </p:nvSpPr>
        <p:spPr>
          <a:xfrm>
            <a:off x="10827868" y="1828800"/>
            <a:ext cx="731520" cy="73152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7324" y="2048256"/>
            <a:ext cx="292608" cy="29260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955884" y="4151376"/>
            <a:ext cx="841248" cy="841248"/>
          </a:xfrm>
          <a:prstGeom prst="ellipse">
            <a:avLst/>
          </a:prstGeom>
          <a:solidFill>
            <a:srgbClr val="F0556B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5"/>
          <p:cNvSpPr/>
          <p:nvPr/>
        </p:nvSpPr>
        <p:spPr>
          <a:xfrm>
            <a:off x="11010748" y="4206240"/>
            <a:ext cx="731520" cy="73152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0204" y="4425696"/>
            <a:ext cx="292608" cy="2926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801204" y="4334256"/>
            <a:ext cx="841248" cy="841248"/>
          </a:xfrm>
          <a:prstGeom prst="ellipse">
            <a:avLst/>
          </a:prstGeom>
          <a:solidFill>
            <a:srgbClr val="FB923C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7"/>
          <p:cNvSpPr/>
          <p:nvPr/>
        </p:nvSpPr>
        <p:spPr>
          <a:xfrm>
            <a:off x="7856068" y="4389120"/>
            <a:ext cx="731520" cy="73152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5524" y="4608576"/>
            <a:ext cx="292608" cy="29260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355684" y="950976"/>
            <a:ext cx="658368" cy="658368"/>
          </a:xfrm>
          <a:prstGeom prst="ellipse">
            <a:avLst/>
          </a:prstGeom>
          <a:solidFill>
            <a:srgbClr val="8595B2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19"/>
          <p:cNvSpPr/>
          <p:nvPr/>
        </p:nvSpPr>
        <p:spPr>
          <a:xfrm>
            <a:off x="9410548" y="1005840"/>
            <a:ext cx="548640" cy="54864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8595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5140" y="1170432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30004" y="5340096"/>
            <a:ext cx="658368" cy="658368"/>
          </a:xfrm>
          <a:prstGeom prst="ellipse">
            <a:avLst/>
          </a:prstGeom>
          <a:solidFill>
            <a:srgbClr val="8595B2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1"/>
          <p:cNvSpPr/>
          <p:nvPr/>
        </p:nvSpPr>
        <p:spPr>
          <a:xfrm>
            <a:off x="9684868" y="5394960"/>
            <a:ext cx="548640" cy="548640"/>
          </a:xfrm>
          <a:prstGeom prst="ellipse">
            <a:avLst/>
          </a:prstGeom>
          <a:solidFill>
            <a:srgbClr val="1A2440"/>
          </a:solidFill>
          <a:ln w="19050">
            <a:solidFill>
              <a:srgbClr val="8595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9460" y="5559552"/>
            <a:ext cx="219456" cy="219456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40080" y="1371600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23"/>
          <p:cNvSpPr/>
          <p:nvPr/>
        </p:nvSpPr>
        <p:spPr>
          <a:xfrm>
            <a:off x="859536" y="1316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AWARENESS  //  BRIEFING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40080" y="18288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Anatomy of</a:t>
            </a:r>
            <a:endParaRPr lang="en-US" sz="5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5A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 Malware</a:t>
            </a:r>
            <a:endParaRPr lang="en-US" sz="5000" dirty="0"/>
          </a:p>
        </p:txBody>
      </p:sp>
      <p:sp>
        <p:nvSpPr>
          <p:cNvPr id="34" name="Text 25"/>
          <p:cNvSpPr/>
          <p:nvPr/>
        </p:nvSpPr>
        <p:spPr>
          <a:xfrm>
            <a:off x="640080" y="3794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non-technical journey from early computer viruses to today's ransomware, stealers, botnets, and AI-assisted attacks.</a:t>
            </a:r>
            <a:endParaRPr lang="en-US" sz="1550" dirty="0"/>
          </a:p>
        </p:txBody>
      </p:sp>
      <p:sp>
        <p:nvSpPr>
          <p:cNvPr id="35" name="Shape 26"/>
          <p:cNvSpPr/>
          <p:nvPr/>
        </p:nvSpPr>
        <p:spPr>
          <a:xfrm>
            <a:off x="640080" y="4892040"/>
            <a:ext cx="1084478" cy="420624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27"/>
          <p:cNvSpPr/>
          <p:nvPr/>
        </p:nvSpPr>
        <p:spPr>
          <a:xfrm>
            <a:off x="795528" y="5038344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28"/>
          <p:cNvSpPr/>
          <p:nvPr/>
        </p:nvSpPr>
        <p:spPr>
          <a:xfrm>
            <a:off x="950976" y="4892040"/>
            <a:ext cx="810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5D0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1925726" y="4892040"/>
            <a:ext cx="1084478" cy="420624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0"/>
          <p:cNvSpPr/>
          <p:nvPr/>
        </p:nvSpPr>
        <p:spPr>
          <a:xfrm>
            <a:off x="2081174" y="5038344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Text 31"/>
          <p:cNvSpPr/>
          <p:nvPr/>
        </p:nvSpPr>
        <p:spPr>
          <a:xfrm>
            <a:off x="2236622" y="4892040"/>
            <a:ext cx="810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5D0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3211373" y="4892040"/>
            <a:ext cx="1084478" cy="420624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33"/>
          <p:cNvSpPr/>
          <p:nvPr/>
        </p:nvSpPr>
        <p:spPr>
          <a:xfrm>
            <a:off x="3366821" y="5038344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Text 34"/>
          <p:cNvSpPr/>
          <p:nvPr/>
        </p:nvSpPr>
        <p:spPr>
          <a:xfrm>
            <a:off x="3522269" y="4892040"/>
            <a:ext cx="810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5D0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DEFENSE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OVERVIEW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02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will cover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simple mental model before we enter the technical terms.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276856"/>
            <a:ext cx="64008" cy="1527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87552" y="2532888"/>
            <a:ext cx="777240" cy="777240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34" y="2734970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32808" y="231343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965960" y="2478024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malware came from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965960" y="3017520"/>
            <a:ext cx="371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experiments and pranks to global criminal operations.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78728" y="21488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6278819" y="2276856"/>
            <a:ext cx="64008" cy="1527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626200" y="2532888"/>
            <a:ext cx="777240" cy="777240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82" y="2734970"/>
            <a:ext cx="373075" cy="373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271455" y="231343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7604608" y="2478024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modern malware is made of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604608" y="3017520"/>
            <a:ext cx="371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Delivery, stealth, control, payload, and pressure.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" y="4315968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640171" y="4443984"/>
            <a:ext cx="64008" cy="152704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987552" y="4700016"/>
            <a:ext cx="777240" cy="777240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634" y="4902098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32808" y="4480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1965960" y="4645152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attacks usually unfold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965960" y="5184648"/>
            <a:ext cx="371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chain from first click to business impact.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278728" y="4315968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3"/>
          <p:cNvSpPr/>
          <p:nvPr/>
        </p:nvSpPr>
        <p:spPr>
          <a:xfrm>
            <a:off x="6278819" y="4443984"/>
            <a:ext cx="64008" cy="1527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4"/>
          <p:cNvSpPr/>
          <p:nvPr/>
        </p:nvSpPr>
        <p:spPr>
          <a:xfrm>
            <a:off x="6626200" y="4700016"/>
            <a:ext cx="777240" cy="777240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282" y="4902098"/>
            <a:ext cx="373075" cy="3730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271455" y="4480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7604608" y="4645152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normal people can do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604608" y="5184648"/>
            <a:ext cx="371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habits that stop incidents early.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03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Malware, in plain language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Malware is not magic. It is software designed to do something harmful.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231136"/>
            <a:ext cx="64008" cy="10698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1005840" y="23225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Malware </a:t>
            </a:r>
            <a:r>
              <a:rPr lang="en-US" sz="2200" b="1" dirty="0">
                <a:solidFill>
                  <a:srgbClr val="F5A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 malicious software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16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behaves like a normal program in one sense — it needs a way in, a place to run, and an objective. The difference is that the objective is harmful or unauthorized.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72768" y="4443984"/>
            <a:ext cx="156202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594360" y="3931920"/>
            <a:ext cx="1024128" cy="1024128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932688" cy="932688"/>
          </a:xfrm>
          <a:prstGeom prst="ellipse">
            <a:avLst/>
          </a:prstGeom>
          <a:solidFill>
            <a:srgbClr val="141C30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0" y="4229466"/>
            <a:ext cx="391729" cy="39172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2880" y="49743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Gets 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2880" y="52578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email, web, USB, app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67480" y="4443984"/>
            <a:ext cx="156202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3089072" y="3931920"/>
            <a:ext cx="1024128" cy="1024128"/>
          </a:xfrm>
          <a:prstGeom prst="ellipse">
            <a:avLst/>
          </a:prstGeom>
          <a:solidFill>
            <a:srgbClr val="FBBF24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Shape 15"/>
          <p:cNvSpPr/>
          <p:nvPr/>
        </p:nvSpPr>
        <p:spPr>
          <a:xfrm>
            <a:off x="3134792" y="3977640"/>
            <a:ext cx="932688" cy="932688"/>
          </a:xfrm>
          <a:prstGeom prst="ellipse">
            <a:avLst/>
          </a:prstGeom>
          <a:solidFill>
            <a:srgbClr val="141C30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271" y="4229466"/>
            <a:ext cx="391729" cy="39172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77592" y="49743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677592" y="52578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opens, installs, hides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562192" y="4443984"/>
            <a:ext cx="156202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5583784" y="3931920"/>
            <a:ext cx="1024128" cy="1024128"/>
          </a:xfrm>
          <a:prstGeom prst="ellipse">
            <a:avLst/>
          </a:prstGeom>
          <a:solidFill>
            <a:srgbClr val="FB923C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5629504" y="3977640"/>
            <a:ext cx="932688" cy="932688"/>
          </a:xfrm>
          <a:prstGeom prst="ellipse">
            <a:avLst/>
          </a:prstGeom>
          <a:solidFill>
            <a:srgbClr val="141C30"/>
          </a:solidFill>
          <a:ln w="254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983" y="4229466"/>
            <a:ext cx="391729" cy="39172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72304" y="49743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Calls home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172304" y="52578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receives instructions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56903" y="4443984"/>
            <a:ext cx="156202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4"/>
          <p:cNvSpPr/>
          <p:nvPr/>
        </p:nvSpPr>
        <p:spPr>
          <a:xfrm>
            <a:off x="8078495" y="3931920"/>
            <a:ext cx="1024128" cy="1024128"/>
          </a:xfrm>
          <a:prstGeom prst="ellipse">
            <a:avLst/>
          </a:prstGeom>
          <a:solidFill>
            <a:srgbClr val="F87171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Shape 25"/>
          <p:cNvSpPr/>
          <p:nvPr/>
        </p:nvSpPr>
        <p:spPr>
          <a:xfrm>
            <a:off x="8124215" y="3977640"/>
            <a:ext cx="932688" cy="932688"/>
          </a:xfrm>
          <a:prstGeom prst="ellipse">
            <a:avLst/>
          </a:prstGeom>
          <a:solidFill>
            <a:srgbClr val="141C30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695" y="4229466"/>
            <a:ext cx="391729" cy="39172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67015" y="49743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667015" y="52578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steals, encrypts, spies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0573207" y="3931920"/>
            <a:ext cx="1024128" cy="1024128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618927" y="3977640"/>
            <a:ext cx="932688" cy="932688"/>
          </a:xfrm>
          <a:prstGeom prst="ellipse">
            <a:avLst/>
          </a:prstGeom>
          <a:solidFill>
            <a:srgbClr val="141C30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9407" y="4229466"/>
            <a:ext cx="391729" cy="39172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161727" y="497433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Pressures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0161727" y="52578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ransom, leak, disruption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Text 33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idea: malware is a chain. Break one link and the attack may fail.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04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curiosity to organized crime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malware proved programs could move and replicate. Modern malware monetizes access, data, and downtime.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577340" y="3703320"/>
            <a:ext cx="9037015" cy="0"/>
          </a:xfrm>
          <a:prstGeom prst="line">
            <a:avLst/>
          </a:prstGeom>
          <a:noFill/>
          <a:ln w="254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476756" y="3602736"/>
            <a:ext cx="201168" cy="20116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A0F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577340" y="3319272"/>
            <a:ext cx="0" cy="36576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40080" y="1947672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640171" y="2075688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804672" y="20939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1971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11096" y="2093976"/>
            <a:ext cx="420624" cy="42062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458" y="2203338"/>
            <a:ext cx="201900" cy="201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4672" y="25146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Creeper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93522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Self-replicating experiment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36010" y="3602736"/>
            <a:ext cx="201168" cy="201168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A0F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3836594" y="3721608"/>
            <a:ext cx="0" cy="36576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5"/>
          <p:cNvSpPr/>
          <p:nvPr/>
        </p:nvSpPr>
        <p:spPr>
          <a:xfrm>
            <a:off x="2899334" y="40873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6"/>
          <p:cNvSpPr/>
          <p:nvPr/>
        </p:nvSpPr>
        <p:spPr>
          <a:xfrm>
            <a:off x="2899425" y="4215384"/>
            <a:ext cx="64008" cy="111556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7"/>
          <p:cNvSpPr/>
          <p:nvPr/>
        </p:nvSpPr>
        <p:spPr>
          <a:xfrm>
            <a:off x="3063926" y="4233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1988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70350" y="4233672"/>
            <a:ext cx="420624" cy="42062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712" y="4343034"/>
            <a:ext cx="201900" cy="2019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063926" y="465429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Morris Worm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3063926" y="507492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Internet disruption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995264" y="3602736"/>
            <a:ext cx="201168" cy="201168"/>
          </a:xfrm>
          <a:prstGeom prst="ellipse">
            <a:avLst/>
          </a:prstGeom>
          <a:solidFill>
            <a:srgbClr val="FB923C"/>
          </a:solidFill>
          <a:ln w="25400">
            <a:solidFill>
              <a:srgbClr val="0A0F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2"/>
          <p:cNvSpPr/>
          <p:nvPr/>
        </p:nvSpPr>
        <p:spPr>
          <a:xfrm>
            <a:off x="6095848" y="3319272"/>
            <a:ext cx="0" cy="36576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3"/>
          <p:cNvSpPr/>
          <p:nvPr/>
        </p:nvSpPr>
        <p:spPr>
          <a:xfrm>
            <a:off x="5158588" y="1947672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4"/>
          <p:cNvSpPr/>
          <p:nvPr/>
        </p:nvSpPr>
        <p:spPr>
          <a:xfrm>
            <a:off x="5158679" y="2075688"/>
            <a:ext cx="64008" cy="111556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5323180" y="20939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1999–2000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6429604" y="2093976"/>
            <a:ext cx="420624" cy="420624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966" y="2203338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23180" y="25146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Melissa / ILOVEYOU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323180" y="293522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became the highway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254517" y="3602736"/>
            <a:ext cx="201168" cy="20116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0A0F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0"/>
          <p:cNvSpPr/>
          <p:nvPr/>
        </p:nvSpPr>
        <p:spPr>
          <a:xfrm>
            <a:off x="8355101" y="3721608"/>
            <a:ext cx="0" cy="36576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1"/>
          <p:cNvSpPr/>
          <p:nvPr/>
        </p:nvSpPr>
        <p:spPr>
          <a:xfrm>
            <a:off x="7417841" y="40873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Shape 32"/>
          <p:cNvSpPr/>
          <p:nvPr/>
        </p:nvSpPr>
        <p:spPr>
          <a:xfrm>
            <a:off x="7417933" y="4215384"/>
            <a:ext cx="64008" cy="111556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3"/>
          <p:cNvSpPr/>
          <p:nvPr/>
        </p:nvSpPr>
        <p:spPr>
          <a:xfrm>
            <a:off x="7582433" y="4233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2017</a:t>
            </a:r>
            <a:endParaRPr lang="en-US" sz="1500" dirty="0"/>
          </a:p>
        </p:txBody>
      </p:sp>
      <p:sp>
        <p:nvSpPr>
          <p:cNvPr id="39" name="Shape 34"/>
          <p:cNvSpPr/>
          <p:nvPr/>
        </p:nvSpPr>
        <p:spPr>
          <a:xfrm>
            <a:off x="8688857" y="4233672"/>
            <a:ext cx="420624" cy="420624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8220" y="4343034"/>
            <a:ext cx="201900" cy="2019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582433" y="465429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WannaCry / NotPetya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7582433" y="507492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scale and disruption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0513771" y="3602736"/>
            <a:ext cx="201168" cy="201168"/>
          </a:xfrm>
          <a:prstGeom prst="ellipse">
            <a:avLst/>
          </a:prstGeom>
          <a:solidFill>
            <a:srgbClr val="F0556B"/>
          </a:solidFill>
          <a:ln w="25400">
            <a:solidFill>
              <a:srgbClr val="0A0F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Shape 38"/>
          <p:cNvSpPr/>
          <p:nvPr/>
        </p:nvSpPr>
        <p:spPr>
          <a:xfrm>
            <a:off x="10614355" y="3319272"/>
            <a:ext cx="0" cy="365760"/>
          </a:xfrm>
          <a:prstGeom prst="line">
            <a:avLst/>
          </a:prstGeom>
          <a:noFill/>
          <a:ln w="15875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39"/>
          <p:cNvSpPr/>
          <p:nvPr/>
        </p:nvSpPr>
        <p:spPr>
          <a:xfrm>
            <a:off x="9677095" y="1947672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6" name="Shape 40"/>
          <p:cNvSpPr/>
          <p:nvPr/>
        </p:nvSpPr>
        <p:spPr>
          <a:xfrm>
            <a:off x="9677187" y="2075688"/>
            <a:ext cx="64008" cy="1115568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7" name="Text 41"/>
          <p:cNvSpPr/>
          <p:nvPr/>
        </p:nvSpPr>
        <p:spPr>
          <a:xfrm>
            <a:off x="9841687" y="20939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55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2020s</a:t>
            </a:r>
            <a:endParaRPr lang="en-US" sz="1500" dirty="0"/>
          </a:p>
        </p:txBody>
      </p:sp>
      <p:sp>
        <p:nvSpPr>
          <p:cNvPr id="48" name="Shape 42"/>
          <p:cNvSpPr/>
          <p:nvPr/>
        </p:nvSpPr>
        <p:spPr>
          <a:xfrm>
            <a:off x="10948111" y="2093976"/>
            <a:ext cx="420624" cy="420624"/>
          </a:xfrm>
          <a:prstGeom prst="ellipse">
            <a:avLst/>
          </a:prstGeom>
          <a:solidFill>
            <a:srgbClr val="F0556B">
              <a:alpha val="16000"/>
            </a:srgbClr>
          </a:solidFill>
          <a:ln w="1270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7473" y="2203338"/>
            <a:ext cx="201900" cy="20190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841687" y="251460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Ransomware-as-a-Service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9841687" y="293522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Crime became a platform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3" name="Text 46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code matured — but the real shift was turning intrusion into a business.</a:t>
            </a:r>
            <a:endParaRPr lang="en-US" sz="1350" dirty="0"/>
          </a:p>
        </p:txBody>
      </p:sp>
      <p:sp>
        <p:nvSpPr>
          <p:cNvPr id="54" name="Text 47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05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changed?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biggest change is not the code. It is the business model around the code.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27168" cy="3383280"/>
          </a:xfrm>
          <a:prstGeom prst="roundRect">
            <a:avLst>
              <a:gd name="adj" fmla="val 216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322576"/>
            <a:ext cx="64008" cy="3127248"/>
          </a:xfrm>
          <a:prstGeom prst="rect">
            <a:avLst/>
          </a:prstGeom>
          <a:solidFill>
            <a:srgbClr val="55627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005840" y="2578608"/>
            <a:ext cx="658368" cy="658368"/>
          </a:xfrm>
          <a:prstGeom prst="ellipse">
            <a:avLst/>
          </a:prstGeom>
          <a:solidFill>
            <a:srgbClr val="8595B2">
              <a:alpha val="16000"/>
            </a:srgbClr>
          </a:solidFill>
          <a:ln w="12700">
            <a:solidFill>
              <a:srgbClr val="8595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16" y="2749784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578608"/>
            <a:ext cx="376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595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28800" y="2834640"/>
            <a:ext cx="376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Visible and noisy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51560" y="3611880"/>
            <a:ext cx="4449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Spread quickly to show off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Often damaged the infected device directly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Mostly one program doing one obvious thing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could sometimes see symptoms early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24448" y="2194560"/>
            <a:ext cx="5227168" cy="3383280"/>
          </a:xfrm>
          <a:prstGeom prst="roundRect">
            <a:avLst>
              <a:gd name="adj" fmla="val 216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6324539" y="2322576"/>
            <a:ext cx="64008" cy="3127248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690208" y="2578608"/>
            <a:ext cx="658368" cy="658368"/>
          </a:xfrm>
          <a:prstGeom prst="ellipse">
            <a:avLst/>
          </a:prstGeom>
          <a:solidFill>
            <a:srgbClr val="F0556B">
              <a:alpha val="16000"/>
            </a:srgbClr>
          </a:solidFill>
          <a:ln w="1270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383" y="2749784"/>
            <a:ext cx="316017" cy="31601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13168" y="2578608"/>
            <a:ext cx="376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55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513168" y="2834640"/>
            <a:ext cx="376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Quiet and commercial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735928" y="3611880"/>
            <a:ext cx="4449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Steals access before the payload appears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legitimate tools to blend in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Often run by teams with specialists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Pressure comes later: ransom, leaks, extortion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Modern malware is less like a prank and more like a criminal supply chain.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06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 of modern malware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Think of it as a toolkit with modules — not a single scary file.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6492240" cy="6858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194560"/>
            <a:ext cx="54864" cy="46634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877824" y="2171700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61" y="2304837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1945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24871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reaches the target: email, link, fake app, exposed server.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0" y="208483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40080" y="2825496"/>
            <a:ext cx="6492240" cy="6858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640171" y="2935224"/>
            <a:ext cx="54864" cy="46634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877824" y="2912364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61" y="3045501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29352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554480" y="32278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first-stage program that prepares the rest of the attack.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92240" y="282549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40080" y="3566160"/>
            <a:ext cx="6492240" cy="6858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640171" y="3675888"/>
            <a:ext cx="54864" cy="466344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877824" y="3653028"/>
            <a:ext cx="512064" cy="512064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61" y="3786165"/>
            <a:ext cx="245791" cy="24579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54480" y="36758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554480" y="39684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survives a reboot — or waits quietly until needed.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492240" y="3566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640080" y="4306824"/>
            <a:ext cx="6492240" cy="6858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3"/>
          <p:cNvSpPr/>
          <p:nvPr/>
        </p:nvSpPr>
        <p:spPr>
          <a:xfrm>
            <a:off x="640171" y="4416552"/>
            <a:ext cx="54864" cy="46634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4"/>
          <p:cNvSpPr/>
          <p:nvPr/>
        </p:nvSpPr>
        <p:spPr>
          <a:xfrm>
            <a:off x="877824" y="4393692"/>
            <a:ext cx="512064" cy="512064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961" y="4526829"/>
            <a:ext cx="245791" cy="24579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54480" y="44165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 &amp; control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554480" y="4709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attackers send instructions and receive stolen data.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492240" y="430682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640080" y="5047488"/>
            <a:ext cx="6492240" cy="6858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640171" y="5157216"/>
            <a:ext cx="54864" cy="4663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Shape 30"/>
          <p:cNvSpPr/>
          <p:nvPr/>
        </p:nvSpPr>
        <p:spPr>
          <a:xfrm>
            <a:off x="877824" y="5134356"/>
            <a:ext cx="512064" cy="512064"/>
          </a:xfrm>
          <a:prstGeom prst="ellipse">
            <a:avLst/>
          </a:prstGeom>
          <a:solidFill>
            <a:srgbClr val="EF4444">
              <a:alpha val="16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61" y="5267493"/>
            <a:ext cx="245791" cy="24579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554480" y="51572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Payload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1554480" y="54498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business goal: steal, encrypt, spy, disrupt, or extort.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6492240" y="504748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31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4"/>
          <p:cNvSpPr/>
          <p:nvPr/>
        </p:nvSpPr>
        <p:spPr>
          <a:xfrm>
            <a:off x="7635240" y="206654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MODULES STACK UP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831059" y="5102352"/>
            <a:ext cx="3524738" cy="512064"/>
          </a:xfrm>
          <a:prstGeom prst="roundRect">
            <a:avLst>
              <a:gd name="adj" fmla="val 8929"/>
            </a:avLst>
          </a:prstGeom>
          <a:solidFill>
            <a:srgbClr val="34D399">
              <a:alpha val="2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36"/>
          <p:cNvSpPr/>
          <p:nvPr/>
        </p:nvSpPr>
        <p:spPr>
          <a:xfrm>
            <a:off x="7831059" y="5102352"/>
            <a:ext cx="3524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Delivery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8066041" y="4462272"/>
            <a:ext cx="3054773" cy="512064"/>
          </a:xfrm>
          <a:prstGeom prst="roundRect">
            <a:avLst>
              <a:gd name="adj" fmla="val 8929"/>
            </a:avLst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38"/>
          <p:cNvSpPr/>
          <p:nvPr/>
        </p:nvSpPr>
        <p:spPr>
          <a:xfrm>
            <a:off x="8066041" y="4462272"/>
            <a:ext cx="30547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Loader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8301024" y="3822192"/>
            <a:ext cx="2584808" cy="512064"/>
          </a:xfrm>
          <a:prstGeom prst="roundRect">
            <a:avLst>
              <a:gd name="adj" fmla="val 8929"/>
            </a:avLst>
          </a:prstGeom>
          <a:solidFill>
            <a:srgbClr val="FB923C">
              <a:alpha val="20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40"/>
          <p:cNvSpPr/>
          <p:nvPr/>
        </p:nvSpPr>
        <p:spPr>
          <a:xfrm>
            <a:off x="8301024" y="3822192"/>
            <a:ext cx="2584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536006" y="3182112"/>
            <a:ext cx="2114843" cy="512064"/>
          </a:xfrm>
          <a:prstGeom prst="roundRect">
            <a:avLst>
              <a:gd name="adj" fmla="val 8929"/>
            </a:avLst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 42"/>
          <p:cNvSpPr/>
          <p:nvPr/>
        </p:nvSpPr>
        <p:spPr>
          <a:xfrm>
            <a:off x="8536006" y="3182112"/>
            <a:ext cx="21148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Command &amp; control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8770989" y="2542032"/>
            <a:ext cx="1644878" cy="512064"/>
          </a:xfrm>
          <a:prstGeom prst="roundRect">
            <a:avLst>
              <a:gd name="adj" fmla="val 8929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Text 44"/>
          <p:cNvSpPr/>
          <p:nvPr/>
        </p:nvSpPr>
        <p:spPr>
          <a:xfrm>
            <a:off x="8770989" y="2542032"/>
            <a:ext cx="16448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Payload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3" name="Text 46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Defenders rarely see the whole chain at once — they see clues.</a:t>
            </a:r>
            <a:endParaRPr lang="en-US" sz="1350" dirty="0"/>
          </a:p>
        </p:txBody>
      </p:sp>
      <p:sp>
        <p:nvSpPr>
          <p:cNvPr id="54" name="Text 47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07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infection story: from lure to impact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incidents are a sequence of small steps that compound over 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8096" y="2331720"/>
            <a:ext cx="1677558" cy="640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156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50259" y="2880360"/>
            <a:ext cx="713232" cy="71323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99" y="3065800"/>
            <a:ext cx="342351" cy="342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703320"/>
            <a:ext cx="165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087368"/>
            <a:ext cx="156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message, link, invoice, job offer, QR code, or fake update.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10246" y="370332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2884566" y="233172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3012582" y="2331720"/>
            <a:ext cx="1677558" cy="640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3"/>
          <p:cNvSpPr/>
          <p:nvPr/>
        </p:nvSpPr>
        <p:spPr>
          <a:xfrm>
            <a:off x="3067446" y="2532888"/>
            <a:ext cx="156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94745" y="2880360"/>
            <a:ext cx="713232" cy="713232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186" y="3065800"/>
            <a:ext cx="342351" cy="3423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21726" y="3703320"/>
            <a:ext cx="165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Foothold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067446" y="4087368"/>
            <a:ext cx="156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device or account is tricked into running something.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54732" y="370332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5129052" y="233172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5257068" y="2331720"/>
            <a:ext cx="1677558" cy="6400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0"/>
          <p:cNvSpPr/>
          <p:nvPr/>
        </p:nvSpPr>
        <p:spPr>
          <a:xfrm>
            <a:off x="5311932" y="2532888"/>
            <a:ext cx="156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739232" y="2880360"/>
            <a:ext cx="713232" cy="713232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672" y="3065800"/>
            <a:ext cx="342351" cy="34235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66212" y="3703320"/>
            <a:ext cx="165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5311932" y="4087368"/>
            <a:ext cx="156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malware quietly talks to attacker infrastructure.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099219" y="370332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5"/>
          <p:cNvSpPr/>
          <p:nvPr/>
        </p:nvSpPr>
        <p:spPr>
          <a:xfrm>
            <a:off x="7373539" y="233172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6"/>
          <p:cNvSpPr/>
          <p:nvPr/>
        </p:nvSpPr>
        <p:spPr>
          <a:xfrm>
            <a:off x="7501555" y="2331720"/>
            <a:ext cx="1677558" cy="640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27"/>
          <p:cNvSpPr/>
          <p:nvPr/>
        </p:nvSpPr>
        <p:spPr>
          <a:xfrm>
            <a:off x="7556419" y="2532888"/>
            <a:ext cx="156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4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983718" y="2880360"/>
            <a:ext cx="713232" cy="713232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158" y="3065800"/>
            <a:ext cx="342351" cy="34235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510699" y="3703320"/>
            <a:ext cx="165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556419" y="4087368"/>
            <a:ext cx="156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Attackers seek more access, data, or high-value systems.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343705" y="370332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2"/>
          <p:cNvSpPr/>
          <p:nvPr/>
        </p:nvSpPr>
        <p:spPr>
          <a:xfrm>
            <a:off x="9618025" y="233172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9" name="Shape 33"/>
          <p:cNvSpPr/>
          <p:nvPr/>
        </p:nvSpPr>
        <p:spPr>
          <a:xfrm>
            <a:off x="9746041" y="2331720"/>
            <a:ext cx="1677558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Text 34"/>
          <p:cNvSpPr/>
          <p:nvPr/>
        </p:nvSpPr>
        <p:spPr>
          <a:xfrm>
            <a:off x="9800905" y="2532888"/>
            <a:ext cx="156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5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10228204" y="2880360"/>
            <a:ext cx="713232" cy="713232"/>
          </a:xfrm>
          <a:prstGeom prst="ellipse">
            <a:avLst/>
          </a:prstGeom>
          <a:solidFill>
            <a:srgbClr val="EF4444">
              <a:alpha val="16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3644" y="3065800"/>
            <a:ext cx="342351" cy="342351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755185" y="3703320"/>
            <a:ext cx="165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9800905" y="4087368"/>
            <a:ext cx="156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stolen, systems encrypted, services disrupted.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39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Best place to stop it — before impact. Report suspicious signs early, even if unsure.</a:t>
            </a:r>
            <a:endParaRPr lang="en-US" sz="1350" dirty="0"/>
          </a:p>
        </p:txBody>
      </p:sp>
      <p:sp>
        <p:nvSpPr>
          <p:cNvPr id="47" name="Text 40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08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 malware has an economy behind it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groups specialize in different parts of the same attack.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505456"/>
            <a:ext cx="64008" cy="253288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231971" y="2688336"/>
            <a:ext cx="749808" cy="74980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921" y="2883286"/>
            <a:ext cx="359908" cy="3599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547872"/>
            <a:ext cx="1659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3840480"/>
            <a:ext cx="1604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kit seller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4462272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Sells templates to trick users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10246" y="306324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2884566" y="237744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2884658" y="2505456"/>
            <a:ext cx="64008" cy="2532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3476457" y="2688336"/>
            <a:ext cx="749808" cy="74980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407" y="2883286"/>
            <a:ext cx="359908" cy="3599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21726" y="3547872"/>
            <a:ext cx="1659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049158" y="3840480"/>
            <a:ext cx="1604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 access broker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067446" y="4462272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Sells stolen access to companies or accounts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54732" y="306324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5129052" y="237744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5129144" y="2505456"/>
            <a:ext cx="64008" cy="253288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5720944" y="2688336"/>
            <a:ext cx="749808" cy="749808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894" y="2883286"/>
            <a:ext cx="359908" cy="3599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66212" y="3547872"/>
            <a:ext cx="1659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293644" y="3840480"/>
            <a:ext cx="1604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Malware operator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5311932" y="4462272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Provides tools for stealth and control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099219" y="306324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5"/>
          <p:cNvSpPr/>
          <p:nvPr/>
        </p:nvSpPr>
        <p:spPr>
          <a:xfrm>
            <a:off x="7373539" y="237744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6"/>
          <p:cNvSpPr/>
          <p:nvPr/>
        </p:nvSpPr>
        <p:spPr>
          <a:xfrm>
            <a:off x="7373630" y="2505456"/>
            <a:ext cx="64008" cy="253288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7"/>
          <p:cNvSpPr/>
          <p:nvPr/>
        </p:nvSpPr>
        <p:spPr>
          <a:xfrm>
            <a:off x="7965430" y="2688336"/>
            <a:ext cx="749808" cy="749808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380" y="2883286"/>
            <a:ext cx="359908" cy="3599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510699" y="3547872"/>
            <a:ext cx="1659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538131" y="3840480"/>
            <a:ext cx="1604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 affiliate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556419" y="4462272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Runs the attack and negotiates payment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343705" y="3063240"/>
            <a:ext cx="237744" cy="0"/>
          </a:xfrm>
          <a:prstGeom prst="line">
            <a:avLst/>
          </a:prstGeom>
          <a:noFill/>
          <a:ln w="19050">
            <a:solidFill>
              <a:srgbClr val="27314D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2"/>
          <p:cNvSpPr/>
          <p:nvPr/>
        </p:nvSpPr>
        <p:spPr>
          <a:xfrm>
            <a:off x="9618025" y="237744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9" name="Shape 33"/>
          <p:cNvSpPr/>
          <p:nvPr/>
        </p:nvSpPr>
        <p:spPr>
          <a:xfrm>
            <a:off x="9618116" y="2505456"/>
            <a:ext cx="64008" cy="25328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Shape 34"/>
          <p:cNvSpPr/>
          <p:nvPr/>
        </p:nvSpPr>
        <p:spPr>
          <a:xfrm>
            <a:off x="10209916" y="2688336"/>
            <a:ext cx="749808" cy="749808"/>
          </a:xfrm>
          <a:prstGeom prst="ellipse">
            <a:avLst/>
          </a:prstGeom>
          <a:solidFill>
            <a:srgbClr val="EF4444">
              <a:alpha val="16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866" y="2883286"/>
            <a:ext cx="359908" cy="3599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755185" y="3547872"/>
            <a:ext cx="1659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9782617" y="3840480"/>
            <a:ext cx="1604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Leak / extortion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9800905" y="4462272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Publishes pressure if the victim refuses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39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Malware keeps evolving because attackers can buy capability instead of building it.</a:t>
            </a:r>
            <a:endParaRPr lang="en-US" sz="1350" dirty="0"/>
          </a:p>
        </p:txBody>
      </p:sp>
      <p:sp>
        <p:nvSpPr>
          <p:cNvPr id="47" name="Text 40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09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modern malware outcomes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visible “thing” may differ, but the goal is usually access, money, data, or disruption.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393338" cy="1572768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322576"/>
            <a:ext cx="64008" cy="1316736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50976" y="2505456"/>
            <a:ext cx="603504" cy="603504"/>
          </a:xfrm>
          <a:prstGeom prst="ellipse">
            <a:avLst/>
          </a:prstGeom>
          <a:solidFill>
            <a:srgbClr val="F0556B">
              <a:alpha val="16000"/>
            </a:srgbClr>
          </a:solidFill>
          <a:ln w="1270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" y="2662367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0784" y="2505456"/>
            <a:ext cx="2204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69264" y="312724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Locks files or systems, then demands payment.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99178" y="2194560"/>
            <a:ext cx="3393338" cy="1572768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4399270" y="2322576"/>
            <a:ext cx="64008" cy="1316736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4710074" y="2505456"/>
            <a:ext cx="603504" cy="60350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85" y="2662367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59882" y="2505456"/>
            <a:ext cx="2204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 stealer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728362" y="312724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Steals passwords, cookies, crypto wallets, browser data.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8277" y="2194560"/>
            <a:ext cx="3393338" cy="1572768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8158368" y="2322576"/>
            <a:ext cx="64008" cy="131673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8469173" y="2505456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084" y="2662367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18981" y="2505456"/>
            <a:ext cx="2204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Botnet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487461" y="312724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Turns devices into remotely controlled workers.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2153869" y="4133088"/>
            <a:ext cx="3759098" cy="1572768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2153961" y="4261104"/>
            <a:ext cx="64008" cy="131673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2464765" y="4443984"/>
            <a:ext cx="603504" cy="603504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676" y="4600895"/>
            <a:ext cx="289682" cy="28968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214573" y="4443984"/>
            <a:ext cx="2570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Spyware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2483053" y="5065776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Watches screens, microphones, cameras, or messages.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278728" y="4133088"/>
            <a:ext cx="3759098" cy="1572768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5"/>
          <p:cNvSpPr/>
          <p:nvPr/>
        </p:nvSpPr>
        <p:spPr>
          <a:xfrm>
            <a:off x="6278819" y="4261104"/>
            <a:ext cx="64008" cy="1316736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6"/>
          <p:cNvSpPr/>
          <p:nvPr/>
        </p:nvSpPr>
        <p:spPr>
          <a:xfrm>
            <a:off x="6589624" y="4443984"/>
            <a:ext cx="603504" cy="603504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535" y="4600895"/>
            <a:ext cx="289682" cy="28968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39432" y="4443984"/>
            <a:ext cx="2570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Wiper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6607912" y="5065776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Destroys data to disrupt operations — sometimes disguised as ransomware.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30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One campaign can chain several types: stealer for credentials, backdoor for control, then ransomware for pressure.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10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modern malware hides in plain sight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attacks often blend into normal business activity.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322576"/>
            <a:ext cx="54864" cy="8229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14400" y="2404872"/>
            <a:ext cx="658368" cy="65836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576048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37744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Uses normal tools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737360" y="2724912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PowerShell, remote admin tools, cloud storage, browser sessions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419856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640171" y="3547872"/>
            <a:ext cx="54864" cy="8229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914400" y="3630168"/>
            <a:ext cx="658368" cy="65836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3801344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37360" y="3602736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Waits patiently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737360" y="3950208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Delays execution to avoid simple sandbox checks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645152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640171" y="4773168"/>
            <a:ext cx="54864" cy="8229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914400" y="4855464"/>
            <a:ext cx="658368" cy="658368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5026640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828032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Changes shape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1737360" y="5175504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Obfuscation, packing, and frequent file changes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24448" y="2194560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6324539" y="2322576"/>
            <a:ext cx="54864" cy="8229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6598768" y="2404872"/>
            <a:ext cx="658368" cy="658368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943" y="2576048"/>
            <a:ext cx="316017" cy="31601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21728" y="237744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Steals trust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7421728" y="2724912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Abuses valid accounts, signed software, or trusted suppliers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324448" y="3419856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5"/>
          <p:cNvSpPr/>
          <p:nvPr/>
        </p:nvSpPr>
        <p:spPr>
          <a:xfrm>
            <a:off x="6324539" y="3547872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6"/>
          <p:cNvSpPr/>
          <p:nvPr/>
        </p:nvSpPr>
        <p:spPr>
          <a:xfrm>
            <a:off x="6598768" y="3630168"/>
            <a:ext cx="658368" cy="65836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943" y="3801344"/>
            <a:ext cx="316017" cy="31601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21728" y="3602736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Lives off the land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7421728" y="3950208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what already exists instead of dropping obvious malware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324448" y="4645152"/>
            <a:ext cx="5227168" cy="1078992"/>
          </a:xfrm>
          <a:prstGeom prst="roundRect">
            <a:avLst>
              <a:gd name="adj" fmla="val 5932"/>
            </a:avLst>
          </a:prstGeom>
          <a:solidFill>
            <a:srgbClr val="F5A524">
              <a:alpha val="12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0"/>
          <p:cNvSpPr/>
          <p:nvPr/>
        </p:nvSpPr>
        <p:spPr>
          <a:xfrm>
            <a:off x="6598768" y="4855464"/>
            <a:ext cx="658368" cy="658368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943" y="5026640"/>
            <a:ext cx="316017" cy="31601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421728" y="4791456"/>
            <a:ext cx="394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goal of defense is not only </a:t>
            </a: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“find bad files.”</a:t>
            </a:r>
            <a:r>
              <a:rPr lang="en-US" sz="130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It is </a:t>
            </a:r>
            <a:r>
              <a:rPr lang="en-US" sz="1300" b="1" dirty="0">
                <a:solidFill>
                  <a:srgbClr val="F5A5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“find unusual behavior.”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11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human doorway: trust is the target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Many attacks start by exploiting urgency, curiosity, fear, or routine.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8096" y="2377440"/>
            <a:ext cx="1677558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250259" y="2761488"/>
            <a:ext cx="713232" cy="713232"/>
          </a:xfrm>
          <a:prstGeom prst="ellipse">
            <a:avLst/>
          </a:prstGeom>
          <a:solidFill>
            <a:srgbClr val="EF4444">
              <a:alpha val="16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99" y="294692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611880"/>
            <a:ext cx="1714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Urgency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1567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EF444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“Payment due today”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84566" y="237744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3012582" y="2377440"/>
            <a:ext cx="1677558" cy="640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3494745" y="2761488"/>
            <a:ext cx="713232" cy="713232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186" y="2946928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4294" y="3611880"/>
            <a:ext cx="1714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067446" y="4069080"/>
            <a:ext cx="1567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8717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“CEO needs this now”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129052" y="237744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5257068" y="2377440"/>
            <a:ext cx="1677558" cy="6400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5739232" y="2761488"/>
            <a:ext cx="713232" cy="713232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672" y="2946928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8780" y="3611880"/>
            <a:ext cx="1714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311932" y="4069080"/>
            <a:ext cx="1567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B92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“Monthly invoice attached”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373539" y="237744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7501555" y="2377440"/>
            <a:ext cx="1677558" cy="640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7983718" y="2761488"/>
            <a:ext cx="713232" cy="713232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158" y="2946928"/>
            <a:ext cx="342351" cy="34235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3267" y="3611880"/>
            <a:ext cx="1714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556419" y="4069080"/>
            <a:ext cx="1567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BBF2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“See shared photos”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618025" y="2377440"/>
            <a:ext cx="1933590" cy="274320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5"/>
          <p:cNvSpPr/>
          <p:nvPr/>
        </p:nvSpPr>
        <p:spPr>
          <a:xfrm>
            <a:off x="9746041" y="2377440"/>
            <a:ext cx="1677558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6"/>
          <p:cNvSpPr/>
          <p:nvPr/>
        </p:nvSpPr>
        <p:spPr>
          <a:xfrm>
            <a:off x="10228204" y="2761488"/>
            <a:ext cx="713232" cy="713232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3644" y="2946928"/>
            <a:ext cx="342351" cy="34235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27753" y="3611880"/>
            <a:ext cx="1714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Helpfulness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800905" y="4069080"/>
            <a:ext cx="1567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DD4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“Please review this file”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30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Non-technical rule: when a message pushes you to act fast, slow down.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12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malware really damages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Rarely just “a computer problem.” Impact spreads into operations, customers, legal duties, and reputation.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50028" cy="1673352"/>
          </a:xfrm>
          <a:prstGeom prst="roundRect">
            <a:avLst>
              <a:gd name="adj" fmla="val 437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368296"/>
            <a:ext cx="64008" cy="14173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024128" y="2606040"/>
            <a:ext cx="868680" cy="868680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85" y="2831897"/>
            <a:ext cx="416966" cy="416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2606040"/>
            <a:ext cx="360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Downtime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103120" y="3154680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stops. Services may go offline.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1673352"/>
          </a:xfrm>
          <a:prstGeom prst="roundRect">
            <a:avLst>
              <a:gd name="adj" fmla="val 437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6301679" y="2368296"/>
            <a:ext cx="64008" cy="1417320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6685636" y="2606040"/>
            <a:ext cx="868680" cy="868680"/>
          </a:xfrm>
          <a:prstGeom prst="ellipse">
            <a:avLst/>
          </a:prstGeom>
          <a:solidFill>
            <a:srgbClr val="F0556B">
              <a:alpha val="16000"/>
            </a:srgbClr>
          </a:solidFill>
          <a:ln w="1270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492" y="283189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64628" y="2606040"/>
            <a:ext cx="360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exposure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764628" y="3154680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Confidential files may be stolen.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4279392"/>
            <a:ext cx="5250028" cy="1673352"/>
          </a:xfrm>
          <a:prstGeom prst="roundRect">
            <a:avLst>
              <a:gd name="adj" fmla="val 437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640171" y="4407408"/>
            <a:ext cx="64008" cy="141732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24128" y="4645152"/>
            <a:ext cx="868680" cy="868680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985" y="4871009"/>
            <a:ext cx="416966" cy="4169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103120" y="4645152"/>
            <a:ext cx="360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loss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2103120" y="5193792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Recovery, legal, fines, lost revenue.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301588" y="4279392"/>
            <a:ext cx="5250028" cy="1673352"/>
          </a:xfrm>
          <a:prstGeom prst="roundRect">
            <a:avLst>
              <a:gd name="adj" fmla="val 437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6301679" y="4407408"/>
            <a:ext cx="64008" cy="14173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6685636" y="4645152"/>
            <a:ext cx="868680" cy="868680"/>
          </a:xfrm>
          <a:prstGeom prst="ellipse">
            <a:avLst/>
          </a:prstGeom>
          <a:solidFill>
            <a:srgbClr val="FB923C">
              <a:alpha val="16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492" y="4871009"/>
            <a:ext cx="416966" cy="41696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64628" y="4645152"/>
            <a:ext cx="3604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damage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7764628" y="5193792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and partners lose confidence.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DEFENSE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13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Defense is layered, not one magic tool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works best when people, process, and technology support each other.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231136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14400" y="2359152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2506553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340864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50976" y="299923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Awareness, verification, reporting culture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99178" y="210312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4399270" y="2231136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4673498" y="2359152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900" y="2506553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59298" y="2340864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10074" y="299923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MFA, least privilege, strong access reviews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58277" y="210312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8158368" y="2231136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8432597" y="2359152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998" y="2506553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18397" y="2340864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469173" y="299923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Patching, EDR, secure configuration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3785616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640171" y="3913632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801" y="4189049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023360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&amp; Web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50976" y="4681728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Filtering, safe browsing, attachment controls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99178" y="3785616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5"/>
          <p:cNvSpPr/>
          <p:nvPr/>
        </p:nvSpPr>
        <p:spPr>
          <a:xfrm>
            <a:off x="4399270" y="3913632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6"/>
          <p:cNvSpPr/>
          <p:nvPr/>
        </p:nvSpPr>
        <p:spPr>
          <a:xfrm>
            <a:off x="4673498" y="4041648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0900" y="4189049"/>
            <a:ext cx="272125" cy="2721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59298" y="4023360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 &amp; Recovery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4710074" y="4681728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Tested restore, offline / immutable copies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58277" y="3785616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Shape 30"/>
          <p:cNvSpPr/>
          <p:nvPr/>
        </p:nvSpPr>
        <p:spPr>
          <a:xfrm>
            <a:off x="8158368" y="3913632"/>
            <a:ext cx="64008" cy="11155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Shape 31"/>
          <p:cNvSpPr/>
          <p:nvPr/>
        </p:nvSpPr>
        <p:spPr>
          <a:xfrm>
            <a:off x="8432597" y="4041648"/>
            <a:ext cx="566928" cy="566928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9998" y="4189049"/>
            <a:ext cx="272125" cy="27212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18397" y="4023360"/>
            <a:ext cx="2296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 &amp; Response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8469173" y="4681728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Logs, alerts, playbooks, exercises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Text 35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objective is resilience: prevent what we can, detect what we miss, recover what gets through.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DEFENSE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14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everyone can do tomorrow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behaviors that reduce malware risk without technical expertise.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459736"/>
            <a:ext cx="64008" cy="25328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804672" y="24963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732422" y="2569464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333" y="2726375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383280"/>
            <a:ext cx="1567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Pause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1567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rush when a message creates pressure.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884566" y="233172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2884658" y="2459736"/>
            <a:ext cx="64008" cy="25328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/>
          <p:nvPr/>
        </p:nvSpPr>
        <p:spPr>
          <a:xfrm>
            <a:off x="3049158" y="24963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3976908" y="2569464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20" y="2726375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67446" y="3383280"/>
            <a:ext cx="1567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067446" y="3886200"/>
            <a:ext cx="1567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a separate channel before opening or approving.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129052" y="233172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5129144" y="2459736"/>
            <a:ext cx="64008" cy="25328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8"/>
          <p:cNvSpPr/>
          <p:nvPr/>
        </p:nvSpPr>
        <p:spPr>
          <a:xfrm>
            <a:off x="5293644" y="24963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Shape 19"/>
          <p:cNvSpPr/>
          <p:nvPr/>
        </p:nvSpPr>
        <p:spPr>
          <a:xfrm>
            <a:off x="6221395" y="2569464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306" y="2726375"/>
            <a:ext cx="289682" cy="28968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11932" y="3383280"/>
            <a:ext cx="1567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311932" y="3886200"/>
            <a:ext cx="1567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Forward suspicious messages or symptoms quickly.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373539" y="233172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3"/>
          <p:cNvSpPr/>
          <p:nvPr/>
        </p:nvSpPr>
        <p:spPr>
          <a:xfrm>
            <a:off x="7373630" y="2459736"/>
            <a:ext cx="64008" cy="25328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4"/>
          <p:cNvSpPr/>
          <p:nvPr/>
        </p:nvSpPr>
        <p:spPr>
          <a:xfrm>
            <a:off x="7538131" y="24963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8465881" y="2569464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2726375"/>
            <a:ext cx="289682" cy="28968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56419" y="3383280"/>
            <a:ext cx="1567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556419" y="3886200"/>
            <a:ext cx="1567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Allow device and application updates to complete.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618025" y="2331720"/>
            <a:ext cx="1933590" cy="2788920"/>
          </a:xfrm>
          <a:prstGeom prst="roundRect">
            <a:avLst>
              <a:gd name="adj" fmla="val 3783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9618116" y="2459736"/>
            <a:ext cx="64008" cy="25328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Text 30"/>
          <p:cNvSpPr/>
          <p:nvPr/>
        </p:nvSpPr>
        <p:spPr>
          <a:xfrm>
            <a:off x="9782617" y="24963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600" dirty="0"/>
          </a:p>
        </p:txBody>
      </p:sp>
      <p:sp>
        <p:nvSpPr>
          <p:cNvPr id="37" name="Shape 31"/>
          <p:cNvSpPr/>
          <p:nvPr/>
        </p:nvSpPr>
        <p:spPr>
          <a:xfrm>
            <a:off x="10710367" y="2569464"/>
            <a:ext cx="603504" cy="60350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7278" y="2726375"/>
            <a:ext cx="289682" cy="28968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800905" y="3383280"/>
            <a:ext cx="1567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 access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9800905" y="3886200"/>
            <a:ext cx="15678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MFA and never reuse work passwords.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35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Reporting early is not “causing trouble.” It is how the organization avoids trouble.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15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 tabletop: what would you do?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this as a 5-minute audience exercise.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322576"/>
            <a:ext cx="64008" cy="3218688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272674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10512" y="2560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3337560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receive an email that appears to come from a trusted supplier. It says: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24128" y="3977640"/>
            <a:ext cx="4901184" cy="914400"/>
          </a:xfrm>
          <a:prstGeom prst="roundRect">
            <a:avLst>
              <a:gd name="adj" fmla="val 5000"/>
            </a:avLst>
          </a:prstGeom>
          <a:solidFill>
            <a:srgbClr val="0A0F1C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1024128" y="4069080"/>
            <a:ext cx="45720" cy="731520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1"/>
          <p:cNvSpPr/>
          <p:nvPr/>
        </p:nvSpPr>
        <p:spPr>
          <a:xfrm>
            <a:off x="1207008" y="40416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“Urgent revised invoice. Please open today to avoid payment delay.”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24128" y="4983480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attachment asks you to enable content.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66560" y="21945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— what are your next three actions?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766560" y="274320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Shape 15"/>
          <p:cNvSpPr/>
          <p:nvPr/>
        </p:nvSpPr>
        <p:spPr>
          <a:xfrm>
            <a:off x="6766651" y="2852928"/>
            <a:ext cx="54864" cy="621792"/>
          </a:xfrm>
          <a:prstGeom prst="rect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6"/>
          <p:cNvSpPr/>
          <p:nvPr/>
        </p:nvSpPr>
        <p:spPr>
          <a:xfrm>
            <a:off x="6967728" y="27432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55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543800" y="2907792"/>
            <a:ext cx="512064" cy="512064"/>
          </a:xfrm>
          <a:prstGeom prst="ellipse">
            <a:avLst/>
          </a:prstGeom>
          <a:solidFill>
            <a:srgbClr val="F0556B">
              <a:alpha val="16000"/>
            </a:srgbClr>
          </a:solidFill>
          <a:ln w="12700">
            <a:solidFill>
              <a:srgbClr val="F0556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937" y="3040929"/>
            <a:ext cx="245791" cy="24579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0" y="2743200"/>
            <a:ext cx="3139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5D0E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 not enable content or open further.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766560" y="374904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766651" y="3858768"/>
            <a:ext cx="54864" cy="62179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967728" y="374904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7543800" y="3913632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937" y="4046769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29600" y="3749040"/>
            <a:ext cx="3139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5D0E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Verify with the supplier via known contact details.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766560" y="475488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5"/>
          <p:cNvSpPr/>
          <p:nvPr/>
        </p:nvSpPr>
        <p:spPr>
          <a:xfrm>
            <a:off x="6766651" y="4864608"/>
            <a:ext cx="54864" cy="6217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6"/>
          <p:cNvSpPr/>
          <p:nvPr/>
        </p:nvSpPr>
        <p:spPr>
          <a:xfrm>
            <a:off x="6967728" y="47548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7543800" y="4919472"/>
            <a:ext cx="512064" cy="51206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937" y="5052609"/>
            <a:ext cx="245791" cy="24579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229600" y="4754880"/>
            <a:ext cx="3139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5D0E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Report the email using the approved channel.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SUMMARY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16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takeaways to remember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simple mental model for everyday decisions.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40171" y="2286000"/>
            <a:ext cx="54864" cy="420624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896112" y="219456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Malware is software with a harmful mission.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640171" y="3035808"/>
            <a:ext cx="54864" cy="420624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896112" y="294436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944368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Modern malware is often a chain, not a single file.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40171" y="3785616"/>
            <a:ext cx="54864" cy="420624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896112" y="369417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694176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Attackers monetize access, data, downtime, and pressure.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4443984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40171" y="4535424"/>
            <a:ext cx="54864" cy="420624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896112" y="444398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4443984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Unusual behavior matters more than scary-looking code.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0080" y="5193792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640171" y="5285232"/>
            <a:ext cx="54864" cy="420624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896112" y="519379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519379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Pause, verify, and report early.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40080" y="5870448"/>
            <a:ext cx="54864" cy="3840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841248" y="5833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Modern malware is fast. Good reporting makes the organization faster.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18872" cy="118872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59536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r>
              <a:rPr lang="en-US" sz="1050" kern="0" spc="20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//   17 / 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 and further reading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8595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Sources used to ground the history and modern threat landscape.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841248" y="2240280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23496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48840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FBI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Morris Worm: 30 Years Since the First Major Internet Attack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4448" y="2148840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6525616" y="2240280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78" y="234964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1688" y="2148840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CISA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StopRansomware Guide and Resources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898648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841248" y="2990088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3099450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898648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MITRE ATT&amp;CK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base of real-world adversary tactics and techniques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24448" y="2898648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4"/>
          <p:cNvSpPr/>
          <p:nvPr/>
        </p:nvSpPr>
        <p:spPr>
          <a:xfrm>
            <a:off x="6525616" y="2990088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78" y="3099450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1688" y="2898648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Cloudflare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was the WannaCry ransomware attack?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3648456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7"/>
          <p:cNvSpPr/>
          <p:nvPr/>
        </p:nvSpPr>
        <p:spPr>
          <a:xfrm>
            <a:off x="841248" y="3739896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3849258"/>
            <a:ext cx="201900" cy="201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648456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Wired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Untold Story of NotPetya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324448" y="3648456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0"/>
          <p:cNvSpPr/>
          <p:nvPr/>
        </p:nvSpPr>
        <p:spPr>
          <a:xfrm>
            <a:off x="6525616" y="3739896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78" y="3849258"/>
            <a:ext cx="201900" cy="2019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01688" y="3648456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ENISA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 Landscape 2025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40080" y="4398264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141C30"/>
          </a:solidFill>
          <a:ln w="12700">
            <a:solidFill>
              <a:srgbClr val="2731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3"/>
          <p:cNvSpPr/>
          <p:nvPr/>
        </p:nvSpPr>
        <p:spPr>
          <a:xfrm>
            <a:off x="841248" y="4489704"/>
            <a:ext cx="420624" cy="420624"/>
          </a:xfrm>
          <a:prstGeom prst="ellipse">
            <a:avLst/>
          </a:prstGeom>
          <a:solidFill>
            <a:srgbClr val="F5A524">
              <a:alpha val="16000"/>
            </a:srgbClr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4599066"/>
            <a:ext cx="201900" cy="2019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17320" y="4398264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IBM  </a:t>
            </a:r>
            <a:r>
              <a:rPr lang="en-US" sz="115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of a Data Breach Report 2025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324448" y="4398264"/>
            <a:ext cx="5227168" cy="603504"/>
          </a:xfrm>
          <a:prstGeom prst="roundRect">
            <a:avLst>
              <a:gd name="adj" fmla="val 9091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6"/>
          <p:cNvSpPr/>
          <p:nvPr/>
        </p:nvSpPr>
        <p:spPr>
          <a:xfrm>
            <a:off x="6525616" y="4489704"/>
            <a:ext cx="420624" cy="420624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978" y="4599066"/>
            <a:ext cx="201900" cy="2019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01688" y="4398264"/>
            <a:ext cx="426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Delivery tip  </a:t>
            </a:r>
            <a:r>
              <a:rPr lang="en-US" sz="1100" dirty="0">
                <a:solidFill>
                  <a:srgbClr val="C5D0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details high-level; focus on impact, behavior, and early reporting.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ANATOMY OF MODERN MALWARE</a:t>
            </a:r>
            <a:endParaRPr lang="en-US" sz="800" dirty="0"/>
          </a:p>
        </p:txBody>
      </p:sp>
      <p:sp>
        <p:nvSpPr>
          <p:cNvPr id="39" name="Text 29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5562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1660</Words>
  <Application>Microsoft Office PowerPoint</Application>
  <PresentationFormat>Widescreen</PresentationFormat>
  <Paragraphs>312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Carlito</vt:lpstr>
      <vt:lpstr>JetBrains Mono</vt:lpstr>
      <vt:lpstr>Space Grotesk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Anatomy of Modern Malware</dc:title>
  <dc:subject>PptxGenJS Presentation</dc:subject>
  <dc:creator>Security Awareness</dc:creator>
  <cp:lastModifiedBy>Zulfiqar Wardi</cp:lastModifiedBy>
  <cp:revision>4</cp:revision>
  <dcterms:created xsi:type="dcterms:W3CDTF">2026-06-02T03:49:24Z</dcterms:created>
  <dcterms:modified xsi:type="dcterms:W3CDTF">2026-06-02T04:00:14Z</dcterms:modified>
</cp:coreProperties>
</file>