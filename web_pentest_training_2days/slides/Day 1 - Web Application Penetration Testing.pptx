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28800"/>
            <a:ext cx="128016" cy="219456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600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8FB0FF"/>
                </a:solidFill>
                <a:latin typeface="Segoe UI"/>
              </a:rPr>
              <a:t>DAY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05740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Web Application Penetration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3977639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B6BFD1"/>
                </a:solidFill>
                <a:latin typeface="Segoe UI"/>
              </a:rPr>
              <a:t>Understanding Vulnerabilities from Both Attacker and Developer Perspectives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5943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768E"/>
                </a:solidFill>
                <a:latin typeface="Segoe UI"/>
              </a:rPr>
              <a:t>Hands-on workshop for software developers  ·  DVWA + Burp Suite  ·  Explain → Show Code → Exploit → Fix → Retest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DAY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What we'll do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B6472"/>
                </a:solidFill>
                <a:latin typeface="Segoe UI"/>
              </a:rPr>
              <a:t>Every module: see it break first, read the code, fix it, retest.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40280"/>
            <a:ext cx="11064240" cy="4023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1A1F2B"/>
                </a:solidFill>
                <a:latin typeface="Segoe UI"/>
              </a:rPr>
              <a:t>Introduction to Web VAPT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VA vs PT, testing workflow, what a tester looks for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1A1F2B"/>
                </a:solidFill>
                <a:latin typeface="Segoe UI"/>
              </a:rPr>
              <a:t>Black / Grey / White box testing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and why developers benefit from all three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1A1F2B"/>
                </a:solidFill>
                <a:latin typeface="Segoe UI"/>
              </a:rPr>
              <a:t>OWASP Top 10 — quick orientation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where today's bugs fit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1A1F2B"/>
                </a:solidFill>
                <a:latin typeface="Segoe UI"/>
              </a:rPr>
              <a:t>Lab setup: DVWA + Burp Suite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the workflow we reuse all day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1A1F2B"/>
                </a:solidFill>
                <a:latin typeface="Segoe UI"/>
              </a:rPr>
              <a:t>SQL Injection  →  OS Command Injection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manual exploitation, then the fix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1A1F2B"/>
                </a:solidFill>
                <a:latin typeface="Segoe UI"/>
              </a:rPr>
              <a:t>Reflected XSS  →  Stored XSS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same pattern, browser-side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0" b="1" i="0">
                <a:solidFill>
                  <a:srgbClr val="2A334A"/>
                </a:solidFill>
                <a:latin typeface="Segoe U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88036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Introduction to Web Application VAPT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886200"/>
            <a:ext cx="1005840" cy="508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B5BD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B6BFD1"/>
                </a:solidFill>
                <a:latin typeface="Segoe UI"/>
              </a:rPr>
              <a:t>Vulnerability Assessment vs Penetration Testing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B5BD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B6BFD1"/>
                </a:solidFill>
                <a:latin typeface="Segoe UI"/>
              </a:rPr>
              <a:t>How a tester approaches an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Two related, different activities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459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B6472"/>
                </a:solidFill>
                <a:latin typeface="Segoe UI"/>
              </a:rPr>
              <a:t>Assessment lists candidates. A pentest proves which ones are real and how far they go.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31720"/>
            <a:ext cx="53721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566928" y="2331720"/>
            <a:ext cx="5372100" cy="658368"/>
          </a:xfrm>
          <a:prstGeom prst="round2SameRect">
            <a:avLst/>
          </a:prstGeom>
          <a:solidFill>
            <a:srgbClr val="EA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9149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3B5BDB"/>
                </a:solidFill>
                <a:latin typeface="Segoe UI"/>
              </a:rPr>
              <a:t>Vulnerability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489661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Find possible weaknesses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breadth over depth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Automated scanning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Manual inspection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Config review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Answers: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“what might be wrong?”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9068" y="2331720"/>
            <a:ext cx="53721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6259068" y="2331720"/>
            <a:ext cx="5372100" cy="658368"/>
          </a:xfrm>
          <a:prstGeom prst="round2SameRect">
            <a:avLst/>
          </a:prstGeom>
          <a:solidFill>
            <a:srgbClr val="FC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5100" y="2331720"/>
            <a:ext cx="49149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E03E3E"/>
                </a:solidFill>
                <a:latin typeface="Segoe UI"/>
              </a:rPr>
              <a:t>Penetration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3200400"/>
            <a:ext cx="489661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Prove what's exploitable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depth, real impact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Manual validation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Chain the weakness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Show the consequence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Answers: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“what can an attacker actually do?”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Intro to VAPT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Why the difference matters — one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20240" y="1691640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1691640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Scanner: “possible SQL Injection on ?id=”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2331720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2624328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2624328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That alone doesn't tell you the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264408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3557016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3557016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Tester validates it by hand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197096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4489704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3B5BDB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4489704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Segoe UI"/>
              </a:rPr>
              <a:t>Confirms: bypass auth · read other users' rows · dump password hashes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1264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472"/>
                </a:solidFill>
                <a:latin typeface="Segoe UI"/>
              </a:rPr>
              <a:t>The finding is only actionable once someone shows what it actually allows.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Intro to VAPT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A simple Web VAPT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20240" y="1691640"/>
            <a:ext cx="8321040" cy="65471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1691640"/>
            <a:ext cx="7772400" cy="6547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Understand the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2328062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2620670"/>
            <a:ext cx="8321040" cy="65471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2620670"/>
            <a:ext cx="7772400" cy="6547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Identify the attack surface (inputs, endpoints, params)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257092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3549700"/>
            <a:ext cx="8321040" cy="65471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3549700"/>
            <a:ext cx="7772400" cy="6547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Analyse requests &amp; parameters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186123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4478731"/>
            <a:ext cx="8321040" cy="65471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4478731"/>
            <a:ext cx="7772400" cy="6547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Test &amp; manually exploit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5115153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20240" y="5407761"/>
            <a:ext cx="8321040" cy="654710"/>
          </a:xfrm>
          <a:prstGeom prst="roundRect">
            <a:avLst>
              <a:gd name="adj" fmla="val 12000"/>
            </a:avLst>
          </a:prstGeom>
          <a:solidFill>
            <a:srgbClr val="3B5BDB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94560" y="5407761"/>
            <a:ext cx="7772400" cy="6547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Segoe UI"/>
              </a:rPr>
              <a:t>Validate impact  →  Remediate  →  Retest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1264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472"/>
                </a:solidFill>
                <a:latin typeface="Segoe UI"/>
              </a:rPr>
              <a:t>Not a heavy methodology — just how a tester moves through an app. We do exactly this per module.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Intro to VAPT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0" b="1" i="0">
                <a:solidFill>
                  <a:srgbClr val="2A334A"/>
                </a:solidFill>
                <a:latin typeface="Segoe U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88036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Black, Grey and White Box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886200"/>
            <a:ext cx="1005840" cy="508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B5BD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B6BFD1"/>
                </a:solidFill>
                <a:latin typeface="Segoe UI"/>
              </a:rPr>
              <a:t>How much does the tester know?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B5BD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B6BFD1"/>
                </a:solidFill>
                <a:latin typeface="Segoe UI"/>
              </a:rPr>
              <a:t>We combine all three — great for developers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TESTING PERSPECTIVES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How much information the tester has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347472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>
            <a:off x="566928" y="1645920"/>
            <a:ext cx="3474720" cy="658368"/>
          </a:xfrm>
          <a:prstGeom prst="round2SameRect">
            <a:avLst/>
          </a:prstGeom>
          <a:solidFill>
            <a:srgbClr val="EA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3017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Black 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299923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A1F2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Very limited info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like an external attacker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A1F2B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Just a URL, maybe no creds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A1F2B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Browse &amp; map endpoints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A1F2B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Observe &amp; tamper requests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A1F2B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Test auth and inputs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645920"/>
            <a:ext cx="347472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>
            <a:off x="4361688" y="1645920"/>
            <a:ext cx="3474720" cy="658368"/>
          </a:xfrm>
          <a:prstGeom prst="round2SameRect">
            <a:avLst/>
          </a:prstGeom>
          <a:solidFill>
            <a:srgbClr val="EA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45920"/>
            <a:ext cx="3017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3B5BDB"/>
                </a:solidFill>
                <a:latin typeface="Segoe UI"/>
              </a:rPr>
              <a:t>Grey Box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514600"/>
            <a:ext cx="299923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Some info / access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deeper coverage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A normal user account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Maybe an admin/test account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API docs, feature notes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Reach logic behind login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1645920"/>
            <a:ext cx="347472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>
            <a:off x="8156448" y="1645920"/>
            <a:ext cx="3474720" cy="658368"/>
          </a:xfrm>
          <a:prstGeom prst="round2SameRect">
            <a:avLst/>
          </a:prstGeom>
          <a:solidFill>
            <a:srgbClr val="E8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645920"/>
            <a:ext cx="3017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2F9E44"/>
                </a:solidFill>
                <a:latin typeface="Segoe UI"/>
              </a:rPr>
              <a:t>White 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514600"/>
            <a:ext cx="299923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F9E44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Full information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most thorough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F9E44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Source code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F9E44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Architecture &amp; DB schema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F9E44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Configuration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F9E44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Find root cause directly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Black/Grey/White Box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TESTING PERSPECTIVES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Our approach in this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20240" y="1691640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1691640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Attack the app like an external attacker  (black box)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2331720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2624328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2624328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Intercept the HTTP request in Burp  (grey box)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264408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3557016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3557016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Open the vulnerable PHP source  (white box)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197096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4489704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3B5BDB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4489704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Segoe UI"/>
              </a:rPr>
              <a:t>Understand WHY the attack worked — then fix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1264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472"/>
                </a:solidFill>
                <a:latin typeface="Segoe UI"/>
              </a:rPr>
              <a:t>Combining the views is exactly what makes this useful for programmers.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Black/Grey/White Box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0" b="1" i="0">
                <a:solidFill>
                  <a:srgbClr val="2A334A"/>
                </a:solidFill>
                <a:latin typeface="Segoe U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88036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OWASP Top 10 — quick orientation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886200"/>
            <a:ext cx="1005840" cy="508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B5BD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B6BFD1"/>
                </a:solidFill>
                <a:latin typeface="Segoe UI"/>
              </a:rPr>
              <a:t>A shared awareness reference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B5BD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B6BFD1"/>
                </a:solidFill>
                <a:latin typeface="Segoe UI"/>
              </a:rPr>
              <a:t>Where today's exercises fit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OWASP TOP 10:2025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The current OWASP awareness 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472"/>
                </a:solidFill>
                <a:latin typeface="Segoe UI"/>
              </a:rPr>
              <a:t>A useful awareness reference — not something that needs to dominate the workshop.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847088"/>
          <a:ext cx="11064240" cy="4416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6035040"/>
                <a:gridCol w="4206240"/>
              </a:tblGrid>
              <a:tr h="401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L="109728" marR="73152" marT="45720" marB="45720" anchor="ctr">
                    <a:solidFill>
                      <a:srgbClr val="1A1F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Category</a:t>
                      </a:r>
                    </a:p>
                  </a:txBody>
                  <a:tcPr marL="109728" marR="73152" marT="45720" marB="45720" anchor="ctr">
                    <a:solidFill>
                      <a:srgbClr val="1A1F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In this course</a:t>
                      </a:r>
                    </a:p>
                  </a:txBody>
                  <a:tcPr marL="109728" marR="73152" marT="45720" marB="45720" anchor="ctr">
                    <a:solidFill>
                      <a:srgbClr val="1A1F2B"/>
                    </a:solidFill>
                  </a:tcPr>
                </a:tc>
              </a:tr>
              <a:tr h="40150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A01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Broken Access Control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F9E44"/>
                          </a:solidFill>
                          <a:latin typeface="Segoe UI"/>
                        </a:rPr>
                        <a:t>Day 2 — IDOR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0150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A02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Security Misconfiguration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F9E44"/>
                          </a:solidFill>
                          <a:latin typeface="Segoe UI"/>
                        </a:rPr>
                        <a:t>discussed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</a:tr>
              <a:tr h="40150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A03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Software Supply Chain Failures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mentioned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0150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A04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Cryptographic Failures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Password storage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</a:tr>
              <a:tr h="40150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A05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Injection  (SQLi, Command, XSS)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F9E44"/>
                          </a:solidFill>
                          <a:latin typeface="Segoe UI"/>
                        </a:rPr>
                        <a:t>Day 1 — core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0150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A06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Insecure Design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cross-cutting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</a:tr>
              <a:tr h="40150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A07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Authentication Failures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F9E44"/>
                          </a:solidFill>
                          <a:latin typeface="Segoe UI"/>
                        </a:rPr>
                        <a:t>Day 2 — brute force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0150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A08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Software or Data Integrity Failures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</a:tr>
              <a:tr h="40150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A09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Security Logging &amp; Alerting Failures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0150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Segoe UI"/>
                        </a:rPr>
                        <a:t>A10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Mishandling of Exceptional Conditions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F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09728" marR="73152" marT="45720" marB="45720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OWASP Top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OWASP TOP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The categories we exploit hands-on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459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B6472"/>
                </a:solidFill>
                <a:latin typeface="Segoe UI"/>
              </a:rPr>
              <a:t>Everything else today is context. These are the bugs you'll break and fix yourself.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31720"/>
            <a:ext cx="53721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566928" y="2331720"/>
            <a:ext cx="5372100" cy="658368"/>
          </a:xfrm>
          <a:prstGeom prst="round2SameRect">
            <a:avLst/>
          </a:prstGeom>
          <a:solidFill>
            <a:srgbClr val="FC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9149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E03E3E"/>
                </a:solidFill>
                <a:latin typeface="Segoe UI"/>
              </a:rPr>
              <a:t>Injection — A05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489661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SQL Injection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input becomes SQL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Command Injection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input becomes a shell command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XSS (reflected &amp; stored)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input becomes browser 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9068" y="2331720"/>
            <a:ext cx="53721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6259068" y="2331720"/>
            <a:ext cx="5372100" cy="658368"/>
          </a:xfrm>
          <a:prstGeom prst="round2SameRect">
            <a:avLst/>
          </a:prstGeom>
          <a:solidFill>
            <a:srgbClr val="EA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5100" y="2331720"/>
            <a:ext cx="49149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3B5BDB"/>
                </a:solidFill>
                <a:latin typeface="Segoe UI"/>
              </a:rPr>
              <a:t>Access &amp; 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3200400"/>
            <a:ext cx="489661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Broken Access Control — A01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IDOR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Authentication Failures — A07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weak login controls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CSRF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forged authenticated requests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OWASP Top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0" b="1" i="0">
                <a:solidFill>
                  <a:srgbClr val="2A334A"/>
                </a:solidFill>
                <a:latin typeface="Segoe U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88036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Lab Setup — DVWA + Burp Suite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886200"/>
            <a:ext cx="1005840" cy="508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B5BD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B6BFD1"/>
                </a:solidFill>
                <a:latin typeface="Segoe UI"/>
              </a:rPr>
              <a:t>Local only, bound to 127.0.0.1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B5BD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B6BFD1"/>
                </a:solidFill>
                <a:latin typeface="Segoe UI"/>
              </a:rPr>
              <a:t>The workflow we reuse every module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LAB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Start the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B6472"/>
                </a:solidFill>
                <a:latin typeface="Segoe UI"/>
              </a:rPr>
              <a:t>It's deliberately vulnerable — keep it on 127.0.0.1, never expose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40280"/>
            <a:ext cx="11064240" cy="4023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docker compose up -d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from the lab/ folder — starts DVWA + database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Open http://127.0.0.1:4280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log in: admin / password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Click ‘Create / Reset Database’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then log in again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Set DVWA Security = Low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for exploitation (Impossible = the fixed code)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Stop: docker compose down   ·   Reset: docker compose down -v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full wipe + fresh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Lab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LAB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The Burp workflow you'll reuse all 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20240" y="1691640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1691640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Burp → Proxy → Open Browser   (pre-proxied, zero setup)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2331720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2624328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2624328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Intercept ON → submit a form → the request pauses in Burp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264408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3557016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3557016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Right-click → Send to Repeater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197096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4489704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3B5BDB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4489704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Segoe UI"/>
              </a:rPr>
              <a:t>Edit a parameter → Send → read the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1264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472"/>
                </a:solidFill>
                <a:latin typeface="Segoe UI"/>
              </a:rPr>
              <a:t>Do all DVWA work in the Burp browser. Payloads can also go straight in the page box — only brute force (Intruder) strictly needs Burp.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Lab Setup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LAB SETUP —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Warm-up (Lab 0)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B6472"/>
                </a:solidFill>
                <a:latin typeface="Segoe UI"/>
              </a:rPr>
              <a:t>10 minutes. If you can intercept, edit and replay, you're ready for everything else.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40280"/>
            <a:ext cx="11064240" cy="4023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1A1F2B"/>
                </a:solidFill>
                <a:latin typeface="Segoe UI"/>
              </a:rPr>
              <a:t>Intercept the SQL Injection request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450" b="0" i="0">
                <a:solidFill>
                  <a:srgbClr val="5B6472"/>
                </a:solidFill>
                <a:latin typeface="Segoe UI"/>
              </a:rPr>
              <a:t>find id, the cookie, GET vs POST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1A1F2B"/>
                </a:solidFill>
                <a:latin typeface="Segoe UI"/>
              </a:rPr>
              <a:t>Send it to Repeater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450" b="0" i="0">
                <a:solidFill>
                  <a:srgbClr val="5B6472"/>
                </a:solidFill>
                <a:latin typeface="Segoe UI"/>
              </a:rPr>
              <a:t>change id=1 to id=2, observe the response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1A1F2B"/>
                </a:solidFill>
                <a:latin typeface="Segoe UI"/>
              </a:rPr>
              <a:t>Identify what YOU control vs what the server trusts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450" b="0" i="0">
                <a:solidFill>
                  <a:srgbClr val="5B6472"/>
                </a:solidFill>
                <a:latin typeface="Segoe UI"/>
              </a:rPr>
              <a:t>this distinction drives every bug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Lab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0" b="1" i="0">
                <a:solidFill>
                  <a:srgbClr val="2A334A"/>
                </a:solidFill>
                <a:latin typeface="Segoe UI"/>
              </a:rPr>
              <a:t>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88036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SQL Injection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886200"/>
            <a:ext cx="1005840" cy="508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B5BD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B6BFD1"/>
                </a:solidFill>
                <a:latin typeface="Segoe UI"/>
              </a:rPr>
              <a:t>User input becomes SQL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B5BD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B6BFD1"/>
                </a:solidFill>
                <a:latin typeface="Segoe UI"/>
              </a:rPr>
              <a:t>DVWA · vulnerabilities/sqli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SQL INJECTION · WHAT IS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User input becomes part of the query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B6472"/>
                </a:solidFill>
                <a:latin typeface="Segoe UI"/>
              </a:rPr>
              <a:t>The classic injection bug — and the clearest one to see.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40280"/>
            <a:ext cx="11064240" cy="4023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1A1F2B"/>
                </a:solidFill>
                <a:latin typeface="Segoe UI"/>
              </a:rPr>
              <a:t>The app builds a SQL string with user input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450" b="0" i="0">
                <a:solidFill>
                  <a:srgbClr val="5B6472"/>
                </a:solidFill>
                <a:latin typeface="Segoe UI"/>
              </a:rPr>
              <a:t>the database can't tell your data from real SQL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1A1F2B"/>
                </a:solidFill>
                <a:latin typeface="Segoe UI"/>
              </a:rPr>
              <a:t>Change the input → change the query's meaning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450" b="0" i="0">
                <a:solidFill>
                  <a:srgbClr val="5B6472"/>
                </a:solidFill>
                <a:latin typeface="Segoe UI"/>
              </a:rPr>
              <a:t>read extra rows, bypass logic, dump tables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1A1F2B"/>
                </a:solidFill>
                <a:latin typeface="Segoe UI"/>
              </a:rPr>
              <a:t>Root cause in one line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450" b="0" i="0">
                <a:solidFill>
                  <a:srgbClr val="5B6472"/>
                </a:solidFill>
                <a:latin typeface="Segoe UI"/>
              </a:rPr>
              <a:t>data crosses into a code (SQL)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SQL Injection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SQL INJECTION · VULNERABLE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DVWA — sqli/source/low.php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11064240" cy="4160520"/>
          </a:xfrm>
          <a:prstGeom prst="roundRect">
            <a:avLst>
              <a:gd name="adj" fmla="val 4500"/>
            </a:avLst>
          </a:prstGeom>
          <a:solidFill>
            <a:srgbClr val="121724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19072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A4B8"/>
                </a:solidFill>
                <a:latin typeface="Consolas"/>
              </a:rPr>
              <a:t>low.php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48256"/>
            <a:ext cx="10607040" cy="3575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FF6B6B"/>
                </a:solidFill>
                <a:latin typeface="Consolas"/>
              </a:rPr>
              <a:t>$id = $_REQUEST['id'];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$query = "SELECT first_name, last_name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          FROM users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FF6B6B"/>
                </a:solidFill>
                <a:latin typeface="Consolas"/>
              </a:rPr>
              <a:t>          WHERE user_id = '$id';";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$result = mysqli_query($conn, $query);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7A8499"/>
                </a:solidFill>
                <a:latin typeface="Consolas"/>
              </a:rPr>
              <a:t>// input is concatenated straight into the SQL string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843016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E03E3E"/>
                </a:solidFill>
                <a:latin typeface="Segoe UI"/>
              </a:rPr>
              <a:t>Why it's vulnerable:  </a:t>
            </a:r>
            <a:r>
              <a:rPr sz="1450" b="0" i="0">
                <a:solidFill>
                  <a:srgbClr val="1A1F2B"/>
                </a:solidFill>
                <a:latin typeface="Segoe UI"/>
              </a:rPr>
              <a:t>$id is placed directly inside the WHERE clause, so input is parsed as SQL, not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SQL Injection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SQL INJECTION ·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The 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20240" y="1691640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1691640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User input   1' OR '1'='1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2331720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2624328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2624328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$_GET['id']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264408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3557016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3557016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SELECT ... WHERE user_id = '1' OR '1'='1'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197096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4489704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3B5BDB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4489704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Segoe UI"/>
              </a:rPr>
              <a:t>Database returns EVERY row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1264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472"/>
                </a:solidFill>
                <a:latin typeface="Segoe UI"/>
              </a:rPr>
              <a:t>The quote closes the string; OR '1'='1' is always true → the filter is gone.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SQL Injection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SQL INJECTION · EXPLOITATION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Manual payloads (Security = Low)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11064240" cy="3611880"/>
          </a:xfrm>
          <a:prstGeom prst="roundRect">
            <a:avLst>
              <a:gd name="adj" fmla="val 4500"/>
            </a:avLst>
          </a:prstGeom>
          <a:solidFill>
            <a:srgbClr val="121724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19072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A4B8"/>
                </a:solidFill>
                <a:latin typeface="Consolas"/>
              </a:rPr>
              <a:t>Repeater — id parameter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48256"/>
            <a:ext cx="10607040" cy="3026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7A8499"/>
                </a:solidFill>
                <a:latin typeface="Consolas"/>
              </a:rPr>
              <a:t>id = 1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5C6780"/>
                </a:solidFill>
                <a:latin typeface="Consolas"/>
              </a:rPr>
              <a:t>   → one user (normal)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8FB0FF"/>
                </a:solidFill>
                <a:latin typeface="Consolas"/>
              </a:rPr>
              <a:t>id = 1' OR '1'='1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5C6780"/>
                </a:solidFill>
                <a:latin typeface="Consolas"/>
              </a:rPr>
              <a:t>   → ALL users returned (logic changed)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8FB0FF"/>
                </a:solidFill>
                <a:latin typeface="Consolas"/>
              </a:rPr>
              <a:t>id = 1' ORDER BY 2-- -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5C6780"/>
                </a:solidFill>
                <a:latin typeface="Consolas"/>
              </a:rPr>
              <a:t>   → works; ORDER BY 3 errors → 2 columns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8FB0FF"/>
                </a:solidFill>
                <a:latin typeface="Consolas"/>
              </a:rPr>
              <a:t>id = 1' UNION SELECT user, password FROM users-- -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5C6780"/>
                </a:solidFill>
                <a:latin typeface="Consolas"/>
              </a:rPr>
              <a:t>   → usernames + password HASHES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21808"/>
            <a:ext cx="11064240" cy="566928"/>
          </a:xfrm>
          <a:prstGeom prst="roundRect">
            <a:avLst>
              <a:gd name="adj" fmla="val 18000"/>
            </a:avLst>
          </a:prstGeom>
          <a:solidFill>
            <a:srgbClr val="E8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5321808"/>
            <a:ext cx="82296" cy="566928"/>
          </a:xfrm>
          <a:prstGeom prst="rect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5321808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F2B"/>
                </a:solidFill>
                <a:latin typeface="Segoe UI"/>
              </a:rPr>
              <a:t>Do it manually first. SQLmap can automate it AFTER you understand the bug.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SQL Injection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SQL INJECTION · RESULT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What just happened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53721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>
            <a:off x="566928" y="1645920"/>
            <a:ext cx="5372100" cy="658368"/>
          </a:xfrm>
          <a:prstGeom prst="round2SameRect">
            <a:avLst/>
          </a:prstGeom>
          <a:solidFill>
            <a:srgbClr val="EA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49149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3B5BDB"/>
                </a:solidFill>
                <a:latin typeface="Segoe UI"/>
              </a:rPr>
              <a:t>What happened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489661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Input changed the query structure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WHERE filter neutralised (OR 1=1)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UNION appended attacker's own SELECT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DB returned data from another 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9068" y="1645920"/>
            <a:ext cx="53721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>
            <a:off x="6259068" y="1645920"/>
            <a:ext cx="5372100" cy="658368"/>
          </a:xfrm>
          <a:prstGeom prst="round2SameRect">
            <a:avLst/>
          </a:prstGeom>
          <a:solidFill>
            <a:srgbClr val="FC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5100" y="1645920"/>
            <a:ext cx="49149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E03E3E"/>
                </a:solidFill>
                <a:latin typeface="Segoe UI"/>
              </a:rPr>
              <a:t>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100" y="2514600"/>
            <a:ext cx="489661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Read arbitrary data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other users' records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Dump credentials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password hashes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Authentication bypass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as an impact of SQLi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Potentially modify data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depending on perms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SQL Injection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SQL INJECTION · 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Concatenation  →  Prepared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17904"/>
            <a:ext cx="1152144" cy="292608"/>
          </a:xfrm>
          <a:prstGeom prst="roundRect">
            <a:avLst>
              <a:gd name="adj" fmla="val 30000"/>
            </a:avLst>
          </a:prstGeom>
          <a:solidFill>
            <a:srgbClr val="FC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17904"/>
            <a:ext cx="11521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03E3E"/>
                </a:solidFill>
                <a:latin typeface="Segoe UI"/>
              </a:rPr>
              <a:t>VULNERABLE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517904"/>
            <a:ext cx="793699" cy="292608"/>
          </a:xfrm>
          <a:prstGeom prst="roundRect">
            <a:avLst>
              <a:gd name="adj" fmla="val 30000"/>
            </a:avLst>
          </a:prstGeom>
          <a:solidFill>
            <a:srgbClr val="E8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72784" y="1517904"/>
            <a:ext cx="79369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F9E44"/>
                </a:solidFill>
                <a:latin typeface="Segoe UI"/>
              </a:rPr>
              <a:t>SECURE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5486400" cy="4114800"/>
          </a:xfrm>
          <a:prstGeom prst="roundRect">
            <a:avLst>
              <a:gd name="adj" fmla="val 4500"/>
            </a:avLst>
          </a:prstGeom>
          <a:solidFill>
            <a:srgbClr val="121724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9339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A4B8"/>
                </a:solidFill>
                <a:latin typeface="Consolas"/>
              </a:rPr>
              <a:t>low.php  (vulnerable)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22576"/>
            <a:ext cx="5029200" cy="3529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6B6B"/>
                </a:solidFill>
                <a:latin typeface="Consolas"/>
              </a:rPr>
              <a:t>$id = $_REQUEST['id'];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6E9F0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6E9F0"/>
                </a:solidFill>
                <a:latin typeface="Consolas"/>
              </a:rPr>
              <a:t>$q = "SELECT first_name,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6E9F0"/>
                </a:solidFill>
                <a:latin typeface="Consolas"/>
              </a:rPr>
              <a:t>      last_name FROM users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6E9F0"/>
                </a:solidFill>
                <a:latin typeface="Consolas"/>
              </a:rPr>
              <a:t>      WHERE user_id =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6B6B"/>
                </a:solidFill>
                <a:latin typeface="Consolas"/>
              </a:rPr>
              <a:t>      '$id';";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6E9F0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6E9F0"/>
                </a:solidFill>
                <a:latin typeface="Consolas"/>
              </a:rPr>
              <a:t>mysqli_query($conn,$q);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7A8499"/>
                </a:solidFill>
                <a:latin typeface="Consolas"/>
              </a:rPr>
              <a:t>// input IS the query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1847088"/>
            <a:ext cx="5486400" cy="4114800"/>
          </a:xfrm>
          <a:prstGeom prst="roundRect">
            <a:avLst>
              <a:gd name="adj" fmla="val 4500"/>
            </a:avLst>
          </a:prstGeom>
          <a:solidFill>
            <a:srgbClr val="121724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199339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A4B8"/>
                </a:solidFill>
                <a:latin typeface="Consolas"/>
              </a:rPr>
              <a:t>impossible.php  (secure)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2322576"/>
            <a:ext cx="5029200" cy="3529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6E9F0"/>
                </a:solidFill>
                <a:latin typeface="Consolas"/>
              </a:rPr>
              <a:t>if(is_numeric($id)) {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63E68A"/>
                </a:solidFill>
                <a:latin typeface="Consolas"/>
              </a:rPr>
              <a:t>  $id = intval($id);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6E9F0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6E9F0"/>
                </a:solidFill>
                <a:latin typeface="Consolas"/>
              </a:rPr>
              <a:t>$d = $db-&gt;prepare(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6E9F0"/>
                </a:solidFill>
                <a:latin typeface="Consolas"/>
              </a:rPr>
              <a:t>  'SELECT first_name,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6E9F0"/>
                </a:solidFill>
                <a:latin typeface="Consolas"/>
              </a:rPr>
              <a:t>   last_name FROM users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6E9F0"/>
                </a:solidFill>
                <a:latin typeface="Consolas"/>
              </a:rPr>
              <a:t>   WHERE user_id=(:id)');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63E68A"/>
                </a:solidFill>
                <a:latin typeface="Consolas"/>
              </a:rPr>
              <a:t>$d-&gt;bindParam(':id',$id,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63E68A"/>
                </a:solidFill>
                <a:latin typeface="Consolas"/>
              </a:rPr>
              <a:t>   PDO::PARAM_INT);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6E9F0"/>
                </a:solidFill>
                <a:latin typeface="Consolas"/>
              </a:rPr>
              <a:t>$d-&gt;execute(); 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SQL Injection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SQL INJECTION · WHY THE FIX WORKS &amp; RETEST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Prepared statements + retest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Query structure is sent to the DB first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then id is bound as a value — it can never become SQL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is_numeric() / intval() adds defence in depth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but parameterization is the real fix, not blocklists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Retest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Security = Impossible → re-send 1' OR '1'='1 → no effect, input treated as a literal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Now you try — Lab 1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reproduce the exploit, read both files, retest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SQL Injection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0" b="1" i="0">
                <a:solidFill>
                  <a:srgbClr val="2A334A"/>
                </a:solidFill>
                <a:latin typeface="Segoe UI"/>
              </a:rPr>
              <a:t>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88036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OS Command Injection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886200"/>
            <a:ext cx="1005840" cy="508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B5BD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B6BFD1"/>
                </a:solidFill>
                <a:latin typeface="Segoe UI"/>
              </a:rPr>
              <a:t>User input becomes a shell command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B5BD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B6BFD1"/>
                </a:solidFill>
                <a:latin typeface="Segoe UI"/>
              </a:rPr>
              <a:t>DVWA · vulnerabilities/exec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COMMAND INJECTION · WHAT IS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User input becomes an OS command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B6472"/>
                </a:solidFill>
                <a:latin typeface="Segoe UI"/>
              </a:rPr>
              <a:t>DVWA's ‘ping a host’ feature — a textbook example.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40280"/>
            <a:ext cx="11064240" cy="4023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1A1F2B"/>
                </a:solidFill>
                <a:latin typeface="Segoe UI"/>
              </a:rPr>
              <a:t>The app runs a shell command built from user input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450" b="0" i="0">
                <a:solidFill>
                  <a:srgbClr val="5B6472"/>
                </a:solidFill>
                <a:latin typeface="Segoe UI"/>
              </a:rPr>
              <a:t>the developer expects only an IP address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1A1F2B"/>
                </a:solidFill>
                <a:latin typeface="Segoe UI"/>
              </a:rPr>
              <a:t>The OS shell receives everything after the IP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450" b="0" i="0">
                <a:solidFill>
                  <a:srgbClr val="5B6472"/>
                </a:solidFill>
                <a:latin typeface="Segoe UI"/>
              </a:rPr>
              <a:t>and interprets its metacharacters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1A1F2B"/>
                </a:solidFill>
                <a:latin typeface="Segoe UI"/>
              </a:rPr>
              <a:t>Root cause in one line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450" b="0" i="0">
                <a:solidFill>
                  <a:srgbClr val="5B6472"/>
                </a:solidFill>
                <a:latin typeface="Segoe UI"/>
              </a:rPr>
              <a:t>data crosses into a shell-command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Command Injection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COMMAND INJECTION · VULNERABLE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DVWA — exec/source/low.php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11064240" cy="4160520"/>
          </a:xfrm>
          <a:prstGeom prst="roundRect">
            <a:avLst>
              <a:gd name="adj" fmla="val 4500"/>
            </a:avLst>
          </a:prstGeom>
          <a:solidFill>
            <a:srgbClr val="121724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19072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A4B8"/>
                </a:solidFill>
                <a:latin typeface="Consolas"/>
              </a:rPr>
              <a:t>low.php  (simplified — full source has a Windows/*nix branch)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48256"/>
            <a:ext cx="10607040" cy="3575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FF6B6B"/>
                </a:solidFill>
                <a:latin typeface="Consolas"/>
              </a:rPr>
              <a:t>$target = $_REQUEST['ip'];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7A8499"/>
                </a:solidFill>
                <a:latin typeface="Consolas"/>
              </a:rPr>
              <a:t>// developer expects an IP like 127.0.0.1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$cmd = shell_exec(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FF6B6B"/>
                </a:solidFill>
                <a:latin typeface="Consolas"/>
              </a:rPr>
              <a:t>    'ping -c 4 ' . $target );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$html .= "&lt;pre&gt;{$cmd}&lt;/pre&gt;";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7A8499"/>
                </a:solidFill>
                <a:latin typeface="Consolas"/>
              </a:rPr>
              <a:t>// whatever is in $target is handed to the shell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843016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E03E3E"/>
                </a:solidFill>
                <a:latin typeface="Segoe UI"/>
              </a:rPr>
              <a:t>Why it's vulnerable:  </a:t>
            </a:r>
            <a:r>
              <a:rPr sz="1450" b="0" i="0">
                <a:solidFill>
                  <a:srgbClr val="1A1F2B"/>
                </a:solidFill>
                <a:latin typeface="Segoe UI"/>
              </a:rPr>
              <a:t>$target is glued onto the ping command; the shell will run anything you append.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Command Injection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COMMAND INJECTION ·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The 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20240" y="1691640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1691640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User input   127.0.0.1; whoami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2331720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2624328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2624328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PHP  $_REQUEST['ip']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264408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3557016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3557016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shell_exec('ping -c 4 127.0.0.1; whoami')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197096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4489704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3B5BDB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4489704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Segoe UI"/>
              </a:rPr>
              <a:t>Operating-system shell runs BOTH commands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1264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472"/>
                </a:solidFill>
                <a:latin typeface="Segoe UI"/>
              </a:rPr>
              <a:t>';' ends the ping command; the shell then runs 'whoami' as a second command.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Command Injection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COMMAND INJECTION · EXPLOITATION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Metacharacters chain commands (Low)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11064240" cy="3611880"/>
          </a:xfrm>
          <a:prstGeom prst="roundRect">
            <a:avLst>
              <a:gd name="adj" fmla="val 4500"/>
            </a:avLst>
          </a:prstGeom>
          <a:solidFill>
            <a:srgbClr val="121724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19072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A4B8"/>
                </a:solidFill>
                <a:latin typeface="Consolas"/>
              </a:rPr>
              <a:t>ip parameter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48256"/>
            <a:ext cx="10607040" cy="3026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7A8499"/>
                </a:solidFill>
                <a:latin typeface="Consolas"/>
              </a:rPr>
              <a:t>127.0.0.1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5C6780"/>
                </a:solidFill>
                <a:latin typeface="Consolas"/>
              </a:rPr>
              <a:t>   → normal ping output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8FB0FF"/>
                </a:solidFill>
                <a:latin typeface="Consolas"/>
              </a:rPr>
              <a:t>127.0.0.1; whoami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8FB0FF"/>
                </a:solidFill>
                <a:latin typeface="Consolas"/>
              </a:rPr>
              <a:t>127.0.0.1; id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8FB0FF"/>
                </a:solidFill>
                <a:latin typeface="Consolas"/>
              </a:rPr>
              <a:t>127.0.0.1; ls -la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5C6780"/>
                </a:solidFill>
                <a:latin typeface="Consolas"/>
              </a:rPr>
              <a:t>   → ping output PLUS your command's output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7A8499"/>
                </a:solidFill>
                <a:latin typeface="Consolas"/>
              </a:rPr>
              <a:t>// shell metacharacters:  ;   &amp;   |   `cmd`   $(cmd)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7A8499"/>
                </a:solidFill>
                <a:latin typeface="Consolas"/>
              </a:rPr>
              <a:t>// our lab container is Linux, so ; is the separator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21808"/>
            <a:ext cx="11064240" cy="566928"/>
          </a:xfrm>
          <a:prstGeom prst="roundRect">
            <a:avLst>
              <a:gd name="adj" fmla="val 18000"/>
            </a:avLst>
          </a:prstGeom>
          <a:solidFill>
            <a:srgbClr val="E8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5321808"/>
            <a:ext cx="82296" cy="566928"/>
          </a:xfrm>
          <a:prstGeom prst="rect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5321808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F2B"/>
                </a:solidFill>
                <a:latin typeface="Segoe UI"/>
              </a:rPr>
              <a:t>Keep commands harmless in the lab (whoami / id). The point is that ANY command runs.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Command Injection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COMMAND INJECTION · IMPACT &amp; FIX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From ping to full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53721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>
            <a:off x="566928" y="1645920"/>
            <a:ext cx="5372100" cy="658368"/>
          </a:xfrm>
          <a:prstGeom prst="round2SameRect">
            <a:avLst/>
          </a:prstGeom>
          <a:solidFill>
            <a:srgbClr val="FC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49149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E03E3E"/>
                </a:solidFill>
                <a:latin typeface="Segoe UI"/>
              </a:rPr>
              <a:t>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489661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Run arbitrary OS commands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as the web server user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Read/modify files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Pivot deeper into the host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Often a path to full compromise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9068" y="1645920"/>
            <a:ext cx="53721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>
            <a:off x="6259068" y="1645920"/>
            <a:ext cx="5372100" cy="658368"/>
          </a:xfrm>
          <a:prstGeom prst="round2SameRect">
            <a:avLst/>
          </a:prstGeom>
          <a:solidFill>
            <a:srgbClr val="E8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5100" y="1645920"/>
            <a:ext cx="49149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2F9E44"/>
                </a:solidFill>
                <a:latin typeface="Segoe UI"/>
              </a:rPr>
              <a:t>Fix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100" y="2514600"/>
            <a:ext cx="489661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F9E44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Avoid the shell where possible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use language libraries / functions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F9E44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If unavoidable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strict allow-list validation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F9E44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Pass args safely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array args + escapeshellarg()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F9E44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Least privilege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limit what the command can 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Command Injection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COMMAND INJECTION · 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Concatenation  →  Validate + no metachars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17904"/>
            <a:ext cx="1152144" cy="292608"/>
          </a:xfrm>
          <a:prstGeom prst="roundRect">
            <a:avLst>
              <a:gd name="adj" fmla="val 30000"/>
            </a:avLst>
          </a:prstGeom>
          <a:solidFill>
            <a:srgbClr val="FC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17904"/>
            <a:ext cx="11521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03E3E"/>
                </a:solidFill>
                <a:latin typeface="Segoe UI"/>
              </a:rPr>
              <a:t>VULNERABLE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517904"/>
            <a:ext cx="793699" cy="292608"/>
          </a:xfrm>
          <a:prstGeom prst="roundRect">
            <a:avLst>
              <a:gd name="adj" fmla="val 30000"/>
            </a:avLst>
          </a:prstGeom>
          <a:solidFill>
            <a:srgbClr val="E8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72784" y="1517904"/>
            <a:ext cx="79369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F9E44"/>
                </a:solidFill>
                <a:latin typeface="Segoe UI"/>
              </a:rPr>
              <a:t>SECURE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5486400" cy="4114800"/>
          </a:xfrm>
          <a:prstGeom prst="roundRect">
            <a:avLst>
              <a:gd name="adj" fmla="val 4500"/>
            </a:avLst>
          </a:prstGeom>
          <a:solidFill>
            <a:srgbClr val="121724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9339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A4B8"/>
                </a:solidFill>
                <a:latin typeface="Consolas"/>
              </a:rPr>
              <a:t>low.php  (vulnerable)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22576"/>
            <a:ext cx="5029200" cy="3529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6E9F0"/>
                </a:solidFill>
                <a:latin typeface="Consolas"/>
              </a:rPr>
              <a:t>$target =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6B6B"/>
                </a:solidFill>
                <a:latin typeface="Consolas"/>
              </a:rPr>
              <a:t>    $_REQUEST['ip'];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6E9F0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6E9F0"/>
                </a:solidFill>
                <a:latin typeface="Consolas"/>
              </a:rPr>
              <a:t>$cmd = shell_exec(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6E9F0"/>
                </a:solidFill>
                <a:latin typeface="Consolas"/>
              </a:rPr>
              <a:t>  'ping -c 4 '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6B6B"/>
                </a:solidFill>
                <a:latin typeface="Consolas"/>
              </a:rPr>
              <a:t>   . $target );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6E9F0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7A8499"/>
                </a:solidFill>
                <a:latin typeface="Consolas"/>
              </a:rPr>
              <a:t>// no validation at 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1847088"/>
            <a:ext cx="5486400" cy="4114800"/>
          </a:xfrm>
          <a:prstGeom prst="roundRect">
            <a:avLst>
              <a:gd name="adj" fmla="val 4500"/>
            </a:avLst>
          </a:prstGeom>
          <a:solidFill>
            <a:srgbClr val="121724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199339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A4B8"/>
                </a:solidFill>
                <a:latin typeface="Consolas"/>
              </a:rPr>
              <a:t>impossible.php  (secure)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2322576"/>
            <a:ext cx="5029200" cy="3529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63E68A"/>
                </a:solidFill>
                <a:latin typeface="Consolas"/>
              </a:rPr>
              <a:t>$o = explode('.', $target);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63E68A"/>
                </a:solidFill>
                <a:latin typeface="Consolas"/>
              </a:rPr>
              <a:t>if( is_numeric($o[0]) &amp;&amp;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63E68A"/>
                </a:solidFill>
                <a:latin typeface="Consolas"/>
              </a:rPr>
              <a:t>    is_numeric($o[1]) &amp;&amp;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63E68A"/>
                </a:solidFill>
                <a:latin typeface="Consolas"/>
              </a:rPr>
              <a:t>    is_numeric($o[2]) &amp;&amp;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63E68A"/>
                </a:solidFill>
                <a:latin typeface="Consolas"/>
              </a:rPr>
              <a:t>    is_numeric($o[3]) &amp;&amp;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63E68A"/>
                </a:solidFill>
                <a:latin typeface="Consolas"/>
              </a:rPr>
              <a:t>    sizeof($o)==4 ) {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6E9F0"/>
                </a:solidFill>
                <a:latin typeface="Consolas"/>
              </a:rPr>
              <a:t>  $t="$o[0].$o[1].$o[2].$o[3]";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6E9F0"/>
                </a:solidFill>
                <a:latin typeface="Consolas"/>
              </a:rPr>
              <a:t>  shell_exec('ping -c 4 '.$t);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6E9F0"/>
                </a:solidFill>
                <a:latin typeface="Consolas"/>
              </a:rPr>
              <a:t>} else { /* invalid IP */ 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Command Injection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COMMAND INJECTION · RETEST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Retest &amp; activity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Only 4 numeric octets survive validation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no ; &amp; | can reach the shell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Even better: don't shell out for this at all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or use escapeshellarg() on the argument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Retest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Impossible → 127.0.0.1; whoami → rejected as invalid IP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Now you try — Lab 2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exploit, read both files, retest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Command Injection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25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0" b="1" i="0">
                <a:solidFill>
                  <a:srgbClr val="2A334A"/>
                </a:solidFill>
                <a:latin typeface="Segoe UI"/>
              </a:rPr>
              <a:t>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88036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Reflected Cross-Site Scripting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886200"/>
            <a:ext cx="1005840" cy="508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B5BD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B6BFD1"/>
                </a:solidFill>
                <a:latin typeface="Segoe UI"/>
              </a:rPr>
              <a:t>User input becomes browser code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B5BD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B6BFD1"/>
                </a:solidFill>
                <a:latin typeface="Segoe UI"/>
              </a:rPr>
              <a:t>DVWA · vulnerabilities/xss_r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REFLECTED XSS · WHAT IS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User input runs in the victim's browser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B6472"/>
                </a:solidFill>
                <a:latin typeface="Segoe UI"/>
              </a:rPr>
              <a:t>A browser-side injection — the server just reflects your input 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40280"/>
            <a:ext cx="11064240" cy="4023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1A1F2B"/>
                </a:solidFill>
                <a:latin typeface="Segoe UI"/>
              </a:rPr>
              <a:t>User-controlled text is written into the HTML response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450" b="0" i="0">
                <a:solidFill>
                  <a:srgbClr val="5B6472"/>
                </a:solidFill>
                <a:latin typeface="Segoe UI"/>
              </a:rPr>
              <a:t>the browser executes it as script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1A1F2B"/>
                </a:solidFill>
                <a:latin typeface="Segoe UI"/>
              </a:rPr>
              <a:t>Reflected = comes straight from the current request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450" b="0" i="0">
                <a:solidFill>
                  <a:srgbClr val="5B6472"/>
                </a:solidFill>
                <a:latin typeface="Segoe UI"/>
              </a:rPr>
              <a:t>typically delivered via a crafted link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1A1F2B"/>
                </a:solidFill>
                <a:latin typeface="Segoe UI"/>
              </a:rPr>
              <a:t>Root cause in one line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450" b="0" i="0">
                <a:solidFill>
                  <a:srgbClr val="5B6472"/>
                </a:solidFill>
                <a:latin typeface="Segoe UI"/>
              </a:rPr>
              <a:t>data crosses into an HTML/JS context in the browser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Reflected XSS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26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REFLECTED XSS · VULNERABLE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DVWA — xss_r/source/low.php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11064240" cy="4160520"/>
          </a:xfrm>
          <a:prstGeom prst="roundRect">
            <a:avLst>
              <a:gd name="adj" fmla="val 4500"/>
            </a:avLst>
          </a:prstGeom>
          <a:solidFill>
            <a:srgbClr val="121724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19072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A4B8"/>
                </a:solidFill>
                <a:latin typeface="Consolas"/>
              </a:rPr>
              <a:t>low.php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48256"/>
            <a:ext cx="10607040" cy="3575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7A8499"/>
                </a:solidFill>
                <a:latin typeface="Consolas"/>
              </a:rPr>
              <a:t>// is there any input?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if( $_GET['name'] != NULL ) {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  $html .= '&lt;pre&gt;Hello '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FF6B6B"/>
                </a:solidFill>
                <a:latin typeface="Consolas"/>
              </a:rPr>
              <a:t>     . $_GET['name'] . '&lt;/pre&gt;';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}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7A8499"/>
                </a:solidFill>
                <a:latin typeface="Consolas"/>
              </a:rPr>
              <a:t>// name is printed into HTML with no encoding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843016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E03E3E"/>
                </a:solidFill>
                <a:latin typeface="Segoe UI"/>
              </a:rPr>
              <a:t>Why it's vulnerable:  </a:t>
            </a:r>
            <a:r>
              <a:rPr sz="1450" b="0" i="0">
                <a:solidFill>
                  <a:srgbClr val="1A1F2B"/>
                </a:solidFill>
                <a:latin typeface="Segoe UI"/>
              </a:rPr>
              <a:t>$_GET['name'] is concatenated into the HTML response unencoded → tags become live markup.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Reflected XSS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27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REFLECTED XSS ·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Request → response →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20240" y="1691640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1691640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Request   ?name=&lt;script&gt;alert('XSS')&lt;/script&gt;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2331720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2624328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2624328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Server reflects it into the 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264408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3557016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3557016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Browser parses &lt;script&gt; as real markup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197096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4489704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3B5BDB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4489704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Segoe UI"/>
              </a:rPr>
              <a:t>JavaScript executes in the victim's session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1264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472"/>
                </a:solidFill>
                <a:latin typeface="Segoe UI"/>
              </a:rPr>
              <a:t>Nothing is stored — the payload lives in the link that the victim clicks.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Reflected XSS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REFLECTED XSS · EXPLOITATION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A harmless proof payload (Low)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11064240" cy="3611880"/>
          </a:xfrm>
          <a:prstGeom prst="roundRect">
            <a:avLst>
              <a:gd name="adj" fmla="val 4500"/>
            </a:avLst>
          </a:prstGeom>
          <a:solidFill>
            <a:srgbClr val="121724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19072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A4B8"/>
                </a:solidFill>
                <a:latin typeface="Consolas"/>
              </a:rPr>
              <a:t>name parameter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48256"/>
            <a:ext cx="10607040" cy="3026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7A8499"/>
                </a:solidFill>
                <a:latin typeface="Consolas"/>
              </a:rPr>
              <a:t>name = Zul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5C6780"/>
                </a:solidFill>
                <a:latin typeface="Consolas"/>
              </a:rPr>
              <a:t>   → Hello Zul   (normal)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8FB0FF"/>
                </a:solidFill>
                <a:latin typeface="Consolas"/>
              </a:rPr>
              <a:t>name = &lt;script&gt;alert('XSS')&lt;/script&gt;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5C6780"/>
                </a:solidFill>
                <a:latin typeface="Consolas"/>
              </a:rPr>
              <a:t>   → alert box pops — script executed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7A8499"/>
                </a:solidFill>
                <a:latin typeface="Consolas"/>
              </a:rPr>
              <a:t>// if &lt;script&gt; is filtered, try an event handler: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8FB0FF"/>
                </a:solidFill>
                <a:latin typeface="Consolas"/>
              </a:rPr>
              <a:t>name = &lt;img src=x onerror=alert(1)&gt;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7A8499"/>
                </a:solidFill>
                <a:latin typeface="Consolas"/>
              </a:rPr>
              <a:t>// the payload is in the URL → send it as a link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21808"/>
            <a:ext cx="11064240" cy="566928"/>
          </a:xfrm>
          <a:prstGeom prst="roundRect">
            <a:avLst>
              <a:gd name="adj" fmla="val 18000"/>
            </a:avLst>
          </a:prstGeom>
          <a:solidFill>
            <a:srgbClr val="E8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5321808"/>
            <a:ext cx="82296" cy="566928"/>
          </a:xfrm>
          <a:prstGeom prst="rect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5321808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F2B"/>
                </a:solidFill>
                <a:latin typeface="Segoe UI"/>
              </a:rPr>
              <a:t>Real attacks steal session cookies or act as the victim — alert() just proves execution.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Reflected XSS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29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REFLECTED XSS · 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Raw output  →  Output encoding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17904"/>
            <a:ext cx="1152144" cy="292608"/>
          </a:xfrm>
          <a:prstGeom prst="roundRect">
            <a:avLst>
              <a:gd name="adj" fmla="val 30000"/>
            </a:avLst>
          </a:prstGeom>
          <a:solidFill>
            <a:srgbClr val="FC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17904"/>
            <a:ext cx="11521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03E3E"/>
                </a:solidFill>
                <a:latin typeface="Segoe UI"/>
              </a:rPr>
              <a:t>VULNERABLE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517904"/>
            <a:ext cx="793699" cy="292608"/>
          </a:xfrm>
          <a:prstGeom prst="roundRect">
            <a:avLst>
              <a:gd name="adj" fmla="val 30000"/>
            </a:avLst>
          </a:prstGeom>
          <a:solidFill>
            <a:srgbClr val="E8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72784" y="1517904"/>
            <a:ext cx="79369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F9E44"/>
                </a:solidFill>
                <a:latin typeface="Segoe UI"/>
              </a:rPr>
              <a:t>SECURE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5486400" cy="4114800"/>
          </a:xfrm>
          <a:prstGeom prst="roundRect">
            <a:avLst>
              <a:gd name="adj" fmla="val 4500"/>
            </a:avLst>
          </a:prstGeom>
          <a:solidFill>
            <a:srgbClr val="121724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9339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A4B8"/>
                </a:solidFill>
                <a:latin typeface="Consolas"/>
              </a:rPr>
              <a:t>low.php  (vulnerable)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22576"/>
            <a:ext cx="5029200" cy="3529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6E9F0"/>
                </a:solidFill>
                <a:latin typeface="Consolas"/>
              </a:rPr>
              <a:t>$html .=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6E9F0"/>
                </a:solidFill>
                <a:latin typeface="Consolas"/>
              </a:rPr>
              <a:t>  '&lt;pre&gt;Hello '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6B6B"/>
                </a:solidFill>
                <a:latin typeface="Consolas"/>
              </a:rPr>
              <a:t>  . $_GET['name']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6E9F0"/>
                </a:solidFill>
                <a:latin typeface="Consolas"/>
              </a:rPr>
              <a:t>  . '&lt;/pre&gt;';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6E9F0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7A8499"/>
                </a:solidFill>
                <a:latin typeface="Consolas"/>
              </a:rPr>
              <a:t>// tags render as HTML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1847088"/>
            <a:ext cx="5486400" cy="4114800"/>
          </a:xfrm>
          <a:prstGeom prst="roundRect">
            <a:avLst>
              <a:gd name="adj" fmla="val 4500"/>
            </a:avLst>
          </a:prstGeom>
          <a:solidFill>
            <a:srgbClr val="121724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199339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A4B8"/>
                </a:solidFill>
                <a:latin typeface="Consolas"/>
              </a:rPr>
              <a:t>impossible.php  (secure)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2322576"/>
            <a:ext cx="5029200" cy="3529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63E68A"/>
                </a:solidFill>
                <a:latin typeface="Consolas"/>
              </a:rPr>
              <a:t>$name = htmlspecialchars(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63E68A"/>
                </a:solidFill>
                <a:latin typeface="Consolas"/>
              </a:rPr>
              <a:t>          $_GET['name'] );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6E9F0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6E9F0"/>
                </a:solidFill>
                <a:latin typeface="Consolas"/>
              </a:rPr>
              <a:t>$html .= "&lt;pre&gt;Hello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6E9F0"/>
                </a:solidFill>
                <a:latin typeface="Consolas"/>
              </a:rPr>
              <a:t>          {$name}&lt;/pre&gt;";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6E9F0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7A8499"/>
                </a:solidFill>
                <a:latin typeface="Consolas"/>
              </a:rPr>
              <a:t>//  &lt;  becomes  &amp;lt;  etc.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Reflected XSS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30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REFLECTED XSS · RETEST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Encode on output, then retest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htmlspecialchars() encodes &lt; &gt; " &amp;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the browser shows text, not markup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Encode for the CONTEXT (HTML, attribute, JS, URL)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input validation alone is not enough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Defence in depth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framework auto-escaping + Content-Security-Policy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600" b="1" i="0">
                <a:solidFill>
                  <a:srgbClr val="1A1F2B"/>
                </a:solidFill>
                <a:latin typeface="Segoe UI"/>
              </a:rPr>
              <a:t>Retest — Lab 3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350" b="0" i="0">
                <a:solidFill>
                  <a:srgbClr val="5B6472"/>
                </a:solidFill>
                <a:latin typeface="Segoe UI"/>
              </a:rPr>
              <a:t>Impossible → payload shown as literal text, no alert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Reflected XSS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31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0" b="1" i="0">
                <a:solidFill>
                  <a:srgbClr val="2A334A"/>
                </a:solidFill>
                <a:latin typeface="Segoe UI"/>
              </a:rPr>
              <a:t>V4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88036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Stored Cross-Site Scripting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886200"/>
            <a:ext cx="1005840" cy="508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B5BD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B6BFD1"/>
                </a:solidFill>
                <a:latin typeface="Segoe UI"/>
              </a:rPr>
              <a:t>Payload saved, runs for every visitor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B5BD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B6BFD1"/>
                </a:solidFill>
                <a:latin typeface="Segoe UI"/>
              </a:rPr>
              <a:t>DVWA · vulnerabilities/xss_s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STORED XSS · REFLECTED VS STORED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Same bug, bigger blast radius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459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B6472"/>
                </a:solidFill>
                <a:latin typeface="Segoe UI"/>
              </a:rPr>
              <a:t>Reflected needs a click; stored just waits for visitors.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31720"/>
            <a:ext cx="53721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566928" y="2331720"/>
            <a:ext cx="5372100" cy="658368"/>
          </a:xfrm>
          <a:prstGeom prst="round2SameRect">
            <a:avLst/>
          </a:prstGeom>
          <a:solidFill>
            <a:srgbClr val="EA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9149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3B5BDB"/>
                </a:solidFill>
                <a:latin typeface="Segoe UI"/>
              </a:rPr>
              <a:t>Reflected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489661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Lives in the request/link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Victim must click a crafted URL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Fires once, for that one victim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B5BDB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Not persisted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9068" y="2331720"/>
            <a:ext cx="53721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6EF"/>
            </a:solidFill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6259068" y="2331720"/>
            <a:ext cx="5372100" cy="658368"/>
          </a:xfrm>
          <a:prstGeom prst="round2SameRect">
            <a:avLst/>
          </a:prstGeom>
          <a:solidFill>
            <a:srgbClr val="FC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5100" y="2331720"/>
            <a:ext cx="49149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E03E3E"/>
                </a:solidFill>
                <a:latin typeface="Segoe UI"/>
              </a:rPr>
              <a:t>Stored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3200400"/>
            <a:ext cx="4896612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Saved in the database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e.g. a guestbook comment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Fires for EVERY viewer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1A1F2B"/>
                </a:solidFill>
                <a:latin typeface="Segoe UI"/>
              </a:rPr>
              <a:t>No link needed — they just visit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03E3E"/>
                </a:solidFill>
                <a:latin typeface="Segoe UI"/>
              </a:rPr>
              <a:t>• </a:t>
            </a:r>
            <a:r>
              <a:rPr sz="1350" b="1" i="0">
                <a:solidFill>
                  <a:srgbClr val="1A1F2B"/>
                </a:solidFill>
                <a:latin typeface="Segoe UI"/>
              </a:rPr>
              <a:t>Higher impact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F2B"/>
                </a:solidFill>
                <a:latin typeface="Segoe UI"/>
              </a:rPr>
              <a:t>  </a:t>
            </a:r>
            <a:r>
              <a:rPr sz="1250" b="0" i="0">
                <a:solidFill>
                  <a:srgbClr val="5B6472"/>
                </a:solidFill>
                <a:latin typeface="Segoe UI"/>
              </a:rPr>
              <a:t>mass, self-propagating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Stored XSS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32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STORED XSS · VULNERABLE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DVWA — xss_s/source/low.php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11064240" cy="4160520"/>
          </a:xfrm>
          <a:prstGeom prst="roundRect">
            <a:avLst>
              <a:gd name="adj" fmla="val 4500"/>
            </a:avLst>
          </a:prstGeom>
          <a:solidFill>
            <a:srgbClr val="121724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19072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A4B8"/>
                </a:solidFill>
                <a:latin typeface="Consolas"/>
              </a:rPr>
              <a:t>low.php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48256"/>
            <a:ext cx="10607040" cy="3575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$message = trim($_POST['mtxMessage']);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$message = mysqli_real_escape_string(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7A8499"/>
                </a:solidFill>
                <a:latin typeface="Consolas"/>
              </a:rPr>
              <a:t>               $conn, $message);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7A8499"/>
                </a:solidFill>
                <a:latin typeface="Consolas"/>
              </a:rPr>
              <a:t>// ^ escaped for SQL only — NOT for HTML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INSERT INTO guestbook (comment,name)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FF6B6B"/>
                </a:solidFill>
                <a:latin typeface="Consolas"/>
              </a:rPr>
              <a:t>       VALUES ('$message', '$name');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FF6B6B"/>
                </a:solidFill>
                <a:latin typeface="Consolas"/>
              </a:rPr>
              <a:t>// later printed back on the page unencoded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843016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E03E3E"/>
                </a:solidFill>
                <a:latin typeface="Segoe UI"/>
              </a:rPr>
              <a:t>Why it's vulnerable:  </a:t>
            </a:r>
            <a:r>
              <a:rPr sz="1450" b="0" i="0">
                <a:solidFill>
                  <a:srgbClr val="1A1F2B"/>
                </a:solidFill>
                <a:latin typeface="Segoe UI"/>
              </a:rPr>
              <a:t>SQL-escaping stops SQLi, but the message is stored and later output as raw HTML.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Stored XSS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33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STORED XSS ·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Store once, execute many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20240" y="1691640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1691640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Attacker posts &lt;script&gt;...&lt;/script&gt; to the guestbook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2331720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2624328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2624328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Application stores it in the 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264408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3557016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3557016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A1F2B"/>
                </a:solidFill>
                <a:latin typeface="Segoe UI"/>
              </a:rPr>
              <a:t>Any user opens the guestbook 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197096"/>
            <a:ext cx="365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5BDB"/>
                </a:solidFill>
                <a:latin typeface="Segoe UI"/>
              </a:rP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4489704"/>
            <a:ext cx="8321040" cy="658368"/>
          </a:xfrm>
          <a:prstGeom prst="roundRect">
            <a:avLst>
              <a:gd name="adj" fmla="val 12000"/>
            </a:avLst>
          </a:prstGeom>
          <a:solidFill>
            <a:srgbClr val="3B5BDB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4489704"/>
            <a:ext cx="7772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Segoe UI"/>
              </a:rPr>
              <a:t>Their browser executes the stored 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1264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472"/>
                </a:solidFill>
                <a:latin typeface="Segoe UI"/>
              </a:rPr>
              <a:t>One post → runs in every future visitor's browser, with their session.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Stored XSS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34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STORED XSS · EXPLOITATION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Persisted payload (Low)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11064240" cy="3611880"/>
          </a:xfrm>
          <a:prstGeom prst="roundRect">
            <a:avLst>
              <a:gd name="adj" fmla="val 4500"/>
            </a:avLst>
          </a:prstGeom>
          <a:solidFill>
            <a:srgbClr val="121724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19072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A4B8"/>
                </a:solidFill>
                <a:latin typeface="Consolas"/>
              </a:rPr>
              <a:t>guestbook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48256"/>
            <a:ext cx="10607040" cy="3026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8FB0FF"/>
                </a:solidFill>
                <a:latin typeface="Consolas"/>
              </a:rPr>
              <a:t>Message = &lt;script&gt;alert(document.cookie)&lt;/script&gt;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5C6780"/>
                </a:solidFill>
                <a:latin typeface="Consolas"/>
              </a:rPr>
              <a:t>   → fires now AND on every reload / visit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7A8499"/>
                </a:solidFill>
                <a:latin typeface="Consolas"/>
              </a:rPr>
              <a:t>// Impact: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5C6780"/>
                </a:solidFill>
                <a:latin typeface="Consolas"/>
              </a:rPr>
              <a:t>//  - steal session cookies of every visitor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5C6780"/>
                </a:solidFill>
                <a:latin typeface="Consolas"/>
              </a:rPr>
              <a:t>//  - act as them (post, change data)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5C6780"/>
                </a:solidFill>
                <a:latin typeface="Consolas"/>
              </a:rPr>
              <a:t>//  - worm-like spread across users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E6E9F0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7A8499"/>
                </a:solidFill>
                <a:latin typeface="Consolas"/>
              </a:rPr>
              <a:t>// tip: Name field has a maxlength — use Message,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>
                <a:solidFill>
                  <a:srgbClr val="7A8499"/>
                </a:solidFill>
                <a:latin typeface="Consolas"/>
              </a:rPr>
              <a:t>//      or remove the limit in Burp / DevTools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21808"/>
            <a:ext cx="11064240" cy="566928"/>
          </a:xfrm>
          <a:prstGeom prst="roundRect">
            <a:avLst>
              <a:gd name="adj" fmla="val 18000"/>
            </a:avLst>
          </a:prstGeom>
          <a:solidFill>
            <a:srgbClr val="E8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5321808"/>
            <a:ext cx="82296" cy="566928"/>
          </a:xfrm>
          <a:prstGeom prst="rect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5321808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1F2B"/>
                </a:solidFill>
                <a:latin typeface="Segoe UI"/>
              </a:rPr>
              <a:t>Reset the DB (docker compose down -v) if an old payload lingers after switching levels.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Stored XSS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35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STORED XSS · 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Store raw  →  Encode on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17904"/>
            <a:ext cx="1152144" cy="292608"/>
          </a:xfrm>
          <a:prstGeom prst="roundRect">
            <a:avLst>
              <a:gd name="adj" fmla="val 30000"/>
            </a:avLst>
          </a:prstGeom>
          <a:solidFill>
            <a:srgbClr val="FC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17904"/>
            <a:ext cx="11521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03E3E"/>
                </a:solidFill>
                <a:latin typeface="Segoe UI"/>
              </a:rPr>
              <a:t>VULNERABLE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517904"/>
            <a:ext cx="793699" cy="292608"/>
          </a:xfrm>
          <a:prstGeom prst="roundRect">
            <a:avLst>
              <a:gd name="adj" fmla="val 30000"/>
            </a:avLst>
          </a:prstGeom>
          <a:solidFill>
            <a:srgbClr val="E8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72784" y="1517904"/>
            <a:ext cx="79369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F9E44"/>
                </a:solidFill>
                <a:latin typeface="Segoe UI"/>
              </a:rPr>
              <a:t>SECURE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5486400" cy="4114800"/>
          </a:xfrm>
          <a:prstGeom prst="roundRect">
            <a:avLst>
              <a:gd name="adj" fmla="val 4500"/>
            </a:avLst>
          </a:prstGeom>
          <a:solidFill>
            <a:srgbClr val="121724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9339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A4B8"/>
                </a:solidFill>
                <a:latin typeface="Consolas"/>
              </a:rPr>
              <a:t>low.php  (vulnerable)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22576"/>
            <a:ext cx="5029200" cy="3529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6E9F0"/>
                </a:solidFill>
                <a:latin typeface="Consolas"/>
              </a:rPr>
              <a:t>$message =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6E9F0"/>
                </a:solidFill>
                <a:latin typeface="Consolas"/>
              </a:rPr>
              <a:t>  mysqli_real_escape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6E9F0"/>
                </a:solidFill>
                <a:latin typeface="Consolas"/>
              </a:rPr>
              <a:t>    _string($c,$msg);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7A8499"/>
                </a:solidFill>
                <a:latin typeface="Consolas"/>
              </a:rPr>
              <a:t>// SQL-safe only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6E9F0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6E9F0"/>
                </a:solidFill>
                <a:latin typeface="Consolas"/>
              </a:rPr>
              <a:t>INSERT ... VALUES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6B6B"/>
                </a:solidFill>
                <a:latin typeface="Consolas"/>
              </a:rPr>
              <a:t>  ('$message', ...);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6B6B"/>
                </a:solidFill>
                <a:latin typeface="Consolas"/>
              </a:rPr>
              <a:t>// output unencoded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1847088"/>
            <a:ext cx="5486400" cy="4114800"/>
          </a:xfrm>
          <a:prstGeom prst="roundRect">
            <a:avLst>
              <a:gd name="adj" fmla="val 4500"/>
            </a:avLst>
          </a:prstGeom>
          <a:solidFill>
            <a:srgbClr val="121724"/>
          </a:solidFill>
          <a:ln>
            <a:noFill/>
          </a:ln>
          <a:effectLst>
            <a:outerShdw blurRad="90000" dist="40000" dir="5400000" rotWithShape="0">
              <a:srgbClr val="1A1F2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199339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A4B8"/>
                </a:solidFill>
                <a:latin typeface="Consolas"/>
              </a:rPr>
              <a:t>impossible.php  (secure)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2322576"/>
            <a:ext cx="5029200" cy="3529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6E9F0"/>
                </a:solidFill>
                <a:latin typeface="Consolas"/>
              </a:rPr>
              <a:t>$message =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63E68A"/>
                </a:solidFill>
                <a:latin typeface="Consolas"/>
              </a:rPr>
              <a:t>  htmlspecialchars($msg);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6E9F0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63E68A"/>
                </a:solidFill>
                <a:latin typeface="Consolas"/>
              </a:rPr>
              <a:t>$d = $db-&gt;prepare(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6E9F0"/>
                </a:solidFill>
                <a:latin typeface="Consolas"/>
              </a:rPr>
              <a:t>  'INSERT INTO guestbook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6E9F0"/>
                </a:solidFill>
                <a:latin typeface="Consolas"/>
              </a:rPr>
              <a:t>   (comment,name) VALUES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E6E9F0"/>
                </a:solidFill>
                <a:latin typeface="Consolas"/>
              </a:rPr>
              <a:t>   (:message,:name)');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63E68A"/>
                </a:solidFill>
                <a:latin typeface="Consolas"/>
              </a:rPr>
              <a:t>$d-&gt;bindParam(':message',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63E68A"/>
                </a:solidFill>
                <a:latin typeface="Consolas"/>
              </a:rPr>
              <a:t>   $message);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Stored XSS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36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STORED XSS · RETEST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Encode output + parameterize storage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64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1A1F2B"/>
                </a:solidFill>
                <a:latin typeface="Segoe UI"/>
              </a:rPr>
              <a:t>htmlspecialchars() on the stored value before output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450" b="0" i="0">
                <a:solidFill>
                  <a:srgbClr val="5B6472"/>
                </a:solidFill>
                <a:latin typeface="Segoe UI"/>
              </a:rPr>
              <a:t>renders as text for every viewer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1A1F2B"/>
                </a:solidFill>
                <a:latin typeface="Segoe UI"/>
              </a:rPr>
              <a:t>Prepared statement also protects the INSERT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450" b="0" i="0">
                <a:solidFill>
                  <a:srgbClr val="5B6472"/>
                </a:solidFill>
                <a:latin typeface="Segoe UI"/>
              </a:rPr>
              <a:t>one bug, two contexts — handle both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1A1F2B"/>
                </a:solidFill>
                <a:latin typeface="Segoe UI"/>
              </a:rPr>
              <a:t>Retest — Lab 4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450" b="0" i="0">
                <a:solidFill>
                  <a:srgbClr val="5B6472"/>
                </a:solidFill>
                <a:latin typeface="Segoe UI"/>
              </a:rPr>
              <a:t>Impossible → post the payload → shows as text, nothing executes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Stored XSS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37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0" b="1" i="0">
                <a:solidFill>
                  <a:srgbClr val="2A334A"/>
                </a:solidFill>
                <a:latin typeface="Segoe U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88036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Day 1 Recap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886200"/>
            <a:ext cx="1005840" cy="508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B5BDB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B6BFD1"/>
                </a:solidFill>
                <a:latin typeface="Segoe UI"/>
              </a:rPr>
              <a:t>What made each vulnerability possible?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DAY 1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You can now answer these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8288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828800"/>
            <a:ext cx="82296" cy="9144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6400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3B5BDB"/>
                </a:solidFill>
                <a:latin typeface="Segoe U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828800"/>
            <a:ext cx="9875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1A1F2B"/>
                </a:solidFill>
                <a:latin typeface="Segoe UI"/>
              </a:rPr>
              <a:t>What made SQL Injection possible — and what's the primary fix?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94436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944368"/>
            <a:ext cx="82296" cy="9144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44368"/>
            <a:ext cx="6400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3B5BDB"/>
                </a:solidFill>
                <a:latin typeface="Segoe U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944368"/>
            <a:ext cx="9875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1A1F2B"/>
                </a:solidFill>
                <a:latin typeface="Segoe UI"/>
              </a:rPr>
              <a:t>What made Command Injection possible — and what's the primary fix?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59935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4059935"/>
            <a:ext cx="82296" cy="9144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059935"/>
            <a:ext cx="6400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3B5BDB"/>
                </a:solidFill>
                <a:latin typeface="Segoe UI"/>
              </a:rPr>
              <a:t>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059935"/>
            <a:ext cx="9875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1A1F2B"/>
                </a:solidFill>
                <a:latin typeface="Segoe UI"/>
              </a:rPr>
              <a:t>What made XSS possible — and why is output encoding the fix?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221223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5B6472"/>
                </a:solidFill>
                <a:latin typeface="Segoe UI"/>
              </a:rPr>
              <a:t>Common thread: user input crossed into a code context (SQL / shell / HTML). Keep data as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Recap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38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B5BDB"/>
                </a:solidFill>
                <a:latin typeface="Segoe UI"/>
              </a:rPr>
              <a:t>DAY 1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A1F2B"/>
                </a:solidFill>
                <a:latin typeface="Segoe UI"/>
              </a:rPr>
              <a:t>The one idea to carry into Day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822960" cy="381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B6472"/>
                </a:solidFill>
                <a:latin typeface="Segoe UI"/>
              </a:rPr>
              <a:t>See you at 9:00 for Day 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40280"/>
            <a:ext cx="11064240" cy="4023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1A1F2B"/>
                </a:solidFill>
                <a:latin typeface="Segoe UI"/>
              </a:rPr>
              <a:t>Today's bugs were all INJECTION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450" b="0" i="0">
                <a:solidFill>
                  <a:srgbClr val="5B6472"/>
                </a:solidFill>
                <a:latin typeface="Segoe UI"/>
              </a:rPr>
              <a:t>data crossed into a code context → parameterize or encode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1A1F2B"/>
                </a:solidFill>
                <a:latin typeface="Segoe UI"/>
              </a:rPr>
              <a:t>Tomorrow: ACCESS &amp; AUTH bugs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450" b="0" i="0">
                <a:solidFill>
                  <a:srgbClr val="5B6472"/>
                </a:solidFill>
                <a:latin typeface="Segoe UI"/>
              </a:rPr>
              <a:t>the server fails to verify who's asking and whether they may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3B5BDB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1A1F2B"/>
                </a:solidFill>
                <a:latin typeface="Segoe UI"/>
              </a:rPr>
              <a:t>Auth Weakness · Broken Access Control / IDOR · CSRF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 i="0">
                <a:solidFill>
                  <a:srgbClr val="1A1F2B"/>
                </a:solidFill>
                <a:latin typeface="Segoe UI"/>
              </a:rPr>
              <a:t>     </a:t>
            </a:r>
            <a:r>
              <a:rPr sz="1450" b="0" i="0">
                <a:solidFill>
                  <a:srgbClr val="5B6472"/>
                </a:solidFill>
                <a:latin typeface="Segoe UI"/>
              </a:rPr>
              <a:t>plus an optional module, then reading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Web Application Penetration Testing</a:t>
            </a:r>
            <a:r>
              <a:rPr sz="900" b="0" i="0">
                <a:solidFill>
                  <a:srgbClr val="979FAD"/>
                </a:solidFill>
                <a:latin typeface="Segoe UI"/>
              </a:rPr>
              <a:t>   ·   Recap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5566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79FAD"/>
                </a:solidFill>
                <a:latin typeface="Segoe UI"/>
              </a:rPr>
              <a:t>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