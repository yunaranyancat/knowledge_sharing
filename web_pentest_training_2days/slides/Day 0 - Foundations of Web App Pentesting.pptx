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128016" cy="219456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00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FB0FF"/>
                </a:solidFill>
                <a:latin typeface="Segoe UI"/>
              </a:rPr>
              <a:t>DAY 0 ·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0574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Foundations of Web Application Penetration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977639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6BFD1"/>
                </a:solidFill>
                <a:latin typeface="Segoe UI"/>
              </a:rPr>
              <a:t>The vocabulary and process before the exploits — so the hands-on days make 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68E"/>
                </a:solidFill>
                <a:latin typeface="Segoe UI"/>
              </a:rPr>
              <a:t>Concepts · Scoring &amp; prioritisation · Methodologies · Engagement · Process ·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DAY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Why a foundations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Short, plain-language, and directly connected to what you'll do in the labs.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You'll exploit real bugs on Day 1–2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this day gives you the words and the map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A pentest is a process, not a pile of payloads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recon → test → validate → report → retest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Know what you're measuring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vulnerability vs exploit vs risk; CVSS vs EPSS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Know the rules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scope, authorization, rules of engagement — testing without them is a crime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Core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Vulnerability · Exploit · Risk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VA vs 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Three words people mix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And the third word — risk — is what management actually cares about.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Vulnerability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A weakness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 flaw that could be abused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Example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 login field put into a SQL query unescaped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Exists whether or not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anyone ever uses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Exploit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The act/technique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that abuses the weakness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Example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the payload 1' OR '1'='1 that dumps the table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Turns a 'could'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into a 'did'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Risk = Likelihood ×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Vulnerability exists  (a weakness)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Likelihood: how easily / probably is it exploited?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Impact: what's the damage if it is?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Risk = Likelihood × Impact  →  drives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A weakness that's trivial to exploit AND leaks all customer data = high risk. Fix that first.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Vulnerability Assessment vs Penetration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VA casts a wide net; PT proves which fish are real and how big.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Vulnerability Assessment (VA)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Find &amp; list weaknesses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breadth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Mostly automated scanning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Answers: what might be wrong?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Output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 prioritised list of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Penetration Testing (PT)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Prove what's exploitable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depth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Manual validation + chaining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Answers: what can an attacker DO?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Output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demonstrated impact +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Scanners lie in both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This is why a pentester VALIDATES every finding by hand before it goes in the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FB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78A0B"/>
                </a:solidFill>
                <a:latin typeface="Segoe UI"/>
              </a:rPr>
              <a:t>False 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78A0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Tool says vulnerable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but it isn't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78A0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Wastes dev time if shipped as-is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78A0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Cure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manual validation before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False negative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Tool says fine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but it's vulnerable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The dangerous one — false confidence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Cure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manual testing, logic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Naming &amp; Scoring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CVE · CWE · CVSS · EPSS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Four acronyms, four different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CWE = category · CVE = the specific bug · CVSS = how bad · EPSS = how likely.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47088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126480"/>
                <a:gridCol w="356616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Term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it is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Answers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CWE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Common Weakness Enumeration — the TYPE of flaw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'What KIND of bug?' (e.g. CWE-89 SQLi)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CVE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Common Vulnerabilities &amp; Exposures — a specific INSTANCE in a product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'Which exact bug, where?' (e.g. CVE-2021-44228)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CVSS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Common Vulnerability Scoring System — SEVERITY 0–10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'How bad if exploited?'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EPSS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Exploit Prediction Scoring System — PROBABILITY of exploitation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'How LIKELY to be exploited soon?'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CVSS and EPSS measure DIFFERENT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Severity ≠ likelihood. Prioritise with BOTH: what's damaging AND what's actually being attacked.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CVSS — technical severity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Base score = intrinsic to the bug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how bad if exploited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v4 adds Threat + Environmental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context can adjust it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A 9.8 Base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could still be rarely attacked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F9E44"/>
                </a:solidFill>
                <a:latin typeface="Segoe UI"/>
              </a:rPr>
              <a:t>EPSS — likelihood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Will it actually be exploited?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probability in the next 30 days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Keyed to published CVEs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not every custom finding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Modest CVSS + high EPSS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may deserve attention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Risk-based prioritisation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Validate the finding (kill false positives)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CVE-based? → CVSS + EPSS + asset / 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App-specific (no CVE)? → technical severity + exploitability + exposure +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Fix highest (impact × likelihood)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EPSS is keyed to published CVEs; a custom web-app finding is rated by its own severity, exposure and business impact.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Methodologies &amp;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OWASP Top 10 · WSTG · PTES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METHODOLOGIES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Know the map, don't test ad-hoc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Top 10 tells you WHAT matters; WSTG tells you HOW to test it; PTES frames the whole engagement.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47088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59536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Reference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it gives you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OWASP Top 10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Awareness list of the 10 most critical web risks — a starting vocabulary, not a checklist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OWASP WSTG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Web Security Testing Guide — the detailed 'how to test' for each area (authn, session, input, logic, API...)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PTES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Penetration Testing Execution Standard — end-to-end engagement phases (pre-engagement → reporting)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NIST / OSSTMM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Broader assessment frameworks referenced in formal engagements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METHODOLOGIES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A pentest is a repeatable process (PTES-style)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Pre-engagement  (scope, RoE, authorization)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28062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0670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0670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Intelligence gathering / recon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57092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49700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49700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Threat modelling &amp; attack-surface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86123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78731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78731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Vulnerability analysis → Exploitation → Post-exploitation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5115153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5407761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5407761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Reporting &amp; retest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The labs live in the middle steps — but the value is delivered by the first and last ones.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Engagement: Rules Before Attacks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Scope · Authorization · Rules of Engagement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The paperwork that keeps testing legal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Every finding in this course is on YOUR local DVWA lab — the only system you're authorized to attack 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Scope &amp; authorization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In-scope targets only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explicit hosts / URLs / apps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Out-of-scope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everything else — do not touch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Written authorization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the 'get-out-of-jail' letter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No authorization = crime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not a pentest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Rules of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Timing windows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when you may test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Allowed techniques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e.g. no DoS, no social eng.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Data handling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how to treat data you find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Emergency contacts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who to call if something breaks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How much the tester knows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This course blends all three: attack like black box → intercept → then read the source (white box).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347472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347472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Black 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99923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F2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No inside info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like an external attacker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F2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URL, maybe no creds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331720"/>
            <a:ext cx="347472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361688" y="2331720"/>
            <a:ext cx="347472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Grey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00400"/>
            <a:ext cx="299923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Some access/info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 user account, docs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Deeper coverage, realistic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331720"/>
            <a:ext cx="347472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8156448" y="2331720"/>
            <a:ext cx="3474720" cy="658368"/>
          </a:xfrm>
          <a:prstGeom prst="round2SameRect">
            <a:avLst/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331720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F9E44"/>
                </a:solidFill>
                <a:latin typeface="Segoe UI"/>
              </a:rPr>
              <a:t>White 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9923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Full info + source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most thorough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Find root cause directly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The Testing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Recon → Enumeration → Test areas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Find the attack surface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Reconnaissance — what is this app, what stack, what's exposed?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Enumeration — endpoints, parameters, roles, inputs,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Attack-surface mapping — every place data enters the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THEN test each input against each vulnerability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You can't test what you haven't found. Map inputs before you throw payloads.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The web testing areas (what to probe)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DVWA gives hands-on labs for several of these; the rest you'll test on real apps with the same mindset.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47088"/>
          <a:ext cx="11064239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Area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You're checking whether…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Authentication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login can be bypassed, brute-forced, or enumerated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Authorization / access control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one user can reach another's data or admin functions (IDOR/BOLA)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Session management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cookies/tokens are predictable, not rotated, not invalidated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Input validation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input becomes SQL / OS / HTML / a path (injection &amp; XSS)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Business logic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the intended workflow can be abused (skip payment, replay, negative qty)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File upload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an uploaded file can execute or overwrite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API security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object-level / function-level auth, mass assignment, rate limits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F2B"/>
                          </a:solidFill>
                          <a:latin typeface="Segoe UI"/>
                        </a:rPr>
                        <a:t>Client vs server side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F2B"/>
                          </a:solidFill>
                          <a:latin typeface="Segoe UI"/>
                        </a:rPr>
                        <a:t>never trust the client — controls must be enforced server-side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Manual understanding first, tools second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The course order is deliberate: concept → HTTP → Burp → (optional) automation.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Understand the HTTP request/response by hand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method, path, params, headers, cookies, status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Then a proxy (Burp) makes it repeatable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intercept, edit, replay, compare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Then scanners/automation extend reach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sqlmap, nmap, nikto — after you know what they do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A tool you don't understand hides both bugs and mistakes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know what it's doing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Reporting &amp; Retest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The deliverable that creates value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A finding a developer can act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What &amp; where — vulnerability + exact location/parameter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28062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0670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0670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Evidence — request/response, payload, screenshot (reproducible)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57092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49700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49700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Impact — realistic business consequence, not hype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86123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78731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78731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Recommendation — the specific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5115153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5407761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5407761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Retest — re-run the attack after the fix; confirm it's 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Severity rates the bug; business impact rates what it means for THIS organisation. Report both.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Evidence &amp; reproduction discipline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See templates/Finding-Template.md — the same 8-field structure you'll use in the labs.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Capture the exact request that proves it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so a developer can reproduce in one step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Write reproduction steps a non-tester can follow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numbered, copy-pasteable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Separate severity from business impact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a High on a test box may be Medium in context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Always propose remediation + verify it on retest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a finding isn't done until the fix is 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How this maps to the hands-on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Now go break things — safely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BRIDGE TO THE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Foundations →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Start each module with its concept demo (demos/), then the DVWA lab. See you on Day 1.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47088"/>
          <a:ext cx="110642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630936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Day 0 concept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Where you'll use it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Vulnerability / exploit / impact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every Day 1–2 module states all three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Black/grey/white box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attack DVWA, intercept, then read its source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Input validation &amp; injection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SQLi, Command Injection, XSS (Day 1)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Access control &amp; session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IDOR, Auth, CSRF (Day 2)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Reporting &amp; retest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the finding template + the retest step in every lab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