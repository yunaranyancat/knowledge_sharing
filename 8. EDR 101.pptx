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notesMasterIdLst>
    <p:notesMasterId r:id="rId34"/>
  </p:notesMasterIdLst>
  <p:sldIdLst>
    <p:sldId id="256" r:id="rId3"/>
    <p:sldId id="257" r:id="rId4"/>
    <p:sldId id="258" r:id="rId5"/>
    <p:sldId id="267" r:id="rId6"/>
    <p:sldId id="316" r:id="rId7"/>
    <p:sldId id="317" r:id="rId8"/>
    <p:sldId id="260" r:id="rId9"/>
    <p:sldId id="266" r:id="rId10"/>
    <p:sldId id="268" r:id="rId11"/>
    <p:sldId id="269" r:id="rId12"/>
    <p:sldId id="329" r:id="rId13"/>
    <p:sldId id="331" r:id="rId14"/>
    <p:sldId id="262" r:id="rId15"/>
    <p:sldId id="261" r:id="rId16"/>
    <p:sldId id="315" r:id="rId17"/>
    <p:sldId id="270" r:id="rId18"/>
    <p:sldId id="272" r:id="rId19"/>
    <p:sldId id="318" r:id="rId20"/>
    <p:sldId id="319" r:id="rId21"/>
    <p:sldId id="324" r:id="rId22"/>
    <p:sldId id="326" r:id="rId23"/>
    <p:sldId id="327" r:id="rId24"/>
    <p:sldId id="273" r:id="rId25"/>
    <p:sldId id="305" r:id="rId26"/>
    <p:sldId id="307" r:id="rId27"/>
    <p:sldId id="306" r:id="rId28"/>
    <p:sldId id="313" r:id="rId29"/>
    <p:sldId id="309" r:id="rId30"/>
    <p:sldId id="328" r:id="rId31"/>
    <p:sldId id="263" r:id="rId32"/>
    <p:sldId id="332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699C22-A97D-4712-9E8F-4494D2EC3777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4AD5FBB-9F1B-442A-A3C8-ACFCAFBE67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get or create process </a:t>
          </a:r>
        </a:p>
      </dgm:t>
    </dgm:pt>
    <dgm:pt modelId="{E55C6CE2-7915-42D4-98F5-DD8B8DB03850}" type="parTrans" cxnId="{94A5504E-740B-47C0-9D68-C192764E76BA}">
      <dgm:prSet/>
      <dgm:spPr/>
      <dgm:t>
        <a:bodyPr/>
        <a:lstStyle/>
        <a:p>
          <a:endParaRPr lang="en-US"/>
        </a:p>
      </dgm:t>
    </dgm:pt>
    <dgm:pt modelId="{915976C4-100A-402A-B219-B961A7EE3CC5}" type="sibTrans" cxnId="{94A5504E-740B-47C0-9D68-C192764E76BA}">
      <dgm:prSet/>
      <dgm:spPr/>
      <dgm:t>
        <a:bodyPr/>
        <a:lstStyle/>
        <a:p>
          <a:endParaRPr lang="en-US"/>
        </a:p>
      </dgm:t>
    </dgm:pt>
    <dgm:pt modelId="{7EED1A2E-550B-4653-BDCF-7C161AAA91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injected data </a:t>
          </a:r>
        </a:p>
      </dgm:t>
    </dgm:pt>
    <dgm:pt modelId="{6E5B5933-FDE3-4DC3-9AB8-8C26BCE24303}" type="parTrans" cxnId="{E45C0E6A-3F58-4D0D-BB30-6A62597BEB15}">
      <dgm:prSet/>
      <dgm:spPr/>
      <dgm:t>
        <a:bodyPr/>
        <a:lstStyle/>
        <a:p>
          <a:endParaRPr lang="en-US"/>
        </a:p>
      </dgm:t>
    </dgm:pt>
    <dgm:pt modelId="{E7225052-D963-43CB-9581-24986ECE1EE7}" type="sibTrans" cxnId="{E45C0E6A-3F58-4D0D-BB30-6A62597BEB15}">
      <dgm:prSet/>
      <dgm:spPr/>
      <dgm:t>
        <a:bodyPr/>
        <a:lstStyle/>
        <a:p>
          <a:endParaRPr lang="en-US"/>
        </a:p>
      </dgm:t>
    </dgm:pt>
    <dgm:pt modelId="{EE0B18FB-EDD3-4A4B-8CC1-465FD3693C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transfer to process</a:t>
          </a:r>
        </a:p>
      </dgm:t>
    </dgm:pt>
    <dgm:pt modelId="{16ADAFB2-0177-44B2-9A0B-627F0481AA4E}" type="parTrans" cxnId="{98B2B11E-4ECD-45D8-84D3-6C93EE7DB6CD}">
      <dgm:prSet/>
      <dgm:spPr/>
      <dgm:t>
        <a:bodyPr/>
        <a:lstStyle/>
        <a:p>
          <a:endParaRPr lang="en-US"/>
        </a:p>
      </dgm:t>
    </dgm:pt>
    <dgm:pt modelId="{5B6A726A-B2C4-4107-ADBB-D647B3B033F8}" type="sibTrans" cxnId="{98B2B11E-4ECD-45D8-84D3-6C93EE7DB6CD}">
      <dgm:prSet/>
      <dgm:spPr/>
      <dgm:t>
        <a:bodyPr/>
        <a:lstStyle/>
        <a:p>
          <a:endParaRPr lang="en-US"/>
        </a:p>
      </dgm:t>
    </dgm:pt>
    <dgm:pt modelId="{19C0CBA3-A6C8-4708-9632-E69B2E9A48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execution</a:t>
          </a:r>
        </a:p>
      </dgm:t>
    </dgm:pt>
    <dgm:pt modelId="{569A5AA9-A473-46B2-B60B-E051B3AC422F}" type="parTrans" cxnId="{21610194-351F-4851-932F-1A4E76B91740}">
      <dgm:prSet/>
      <dgm:spPr/>
      <dgm:t>
        <a:bodyPr/>
        <a:lstStyle/>
        <a:p>
          <a:endParaRPr lang="en-US"/>
        </a:p>
      </dgm:t>
    </dgm:pt>
    <dgm:pt modelId="{2024DA96-DE08-4E33-B5AD-9574E4AF4136}" type="sibTrans" cxnId="{21610194-351F-4851-932F-1A4E76B91740}">
      <dgm:prSet/>
      <dgm:spPr/>
      <dgm:t>
        <a:bodyPr/>
        <a:lstStyle/>
        <a:p>
          <a:endParaRPr lang="en-US"/>
        </a:p>
      </dgm:t>
    </dgm:pt>
    <dgm:pt modelId="{CC471CCE-AC25-45C9-B77F-FFCF328AED2F}" type="pres">
      <dgm:prSet presAssocID="{AD699C22-A97D-4712-9E8F-4494D2EC3777}" presName="root" presStyleCnt="0">
        <dgm:presLayoutVars>
          <dgm:dir/>
          <dgm:resizeHandles val="exact"/>
        </dgm:presLayoutVars>
      </dgm:prSet>
      <dgm:spPr/>
    </dgm:pt>
    <dgm:pt modelId="{C6587B1C-4EE4-45E2-B640-C1C6C174132C}" type="pres">
      <dgm:prSet presAssocID="{84AD5FBB-9F1B-442A-A3C8-ACFCAFBE6720}" presName="compNode" presStyleCnt="0"/>
      <dgm:spPr/>
    </dgm:pt>
    <dgm:pt modelId="{85D919E5-4075-4BD3-8E1C-72622FEB375B}" type="pres">
      <dgm:prSet presAssocID="{84AD5FBB-9F1B-442A-A3C8-ACFCAFBE672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8D8EB61-628C-48CB-AAD2-ACD8AB29F51F}" type="pres">
      <dgm:prSet presAssocID="{84AD5FBB-9F1B-442A-A3C8-ACFCAFBE6720}" presName="spaceRect" presStyleCnt="0"/>
      <dgm:spPr/>
    </dgm:pt>
    <dgm:pt modelId="{1FC83BCA-5130-491B-A35B-C9EA39839054}" type="pres">
      <dgm:prSet presAssocID="{84AD5FBB-9F1B-442A-A3C8-ACFCAFBE6720}" presName="textRect" presStyleLbl="revTx" presStyleIdx="0" presStyleCnt="4">
        <dgm:presLayoutVars>
          <dgm:chMax val="1"/>
          <dgm:chPref val="1"/>
        </dgm:presLayoutVars>
      </dgm:prSet>
      <dgm:spPr/>
    </dgm:pt>
    <dgm:pt modelId="{7F2D5DAC-662F-4A8A-8B1B-6FC4238C9662}" type="pres">
      <dgm:prSet presAssocID="{915976C4-100A-402A-B219-B961A7EE3CC5}" presName="sibTrans" presStyleCnt="0"/>
      <dgm:spPr/>
    </dgm:pt>
    <dgm:pt modelId="{258D0399-37A2-415A-B238-67FAE7476470}" type="pres">
      <dgm:prSet presAssocID="{7EED1A2E-550B-4653-BDCF-7C161AAA91D1}" presName="compNode" presStyleCnt="0"/>
      <dgm:spPr/>
    </dgm:pt>
    <dgm:pt modelId="{E4278CE8-B734-4C0F-99F3-BCDD9D55011D}" type="pres">
      <dgm:prSet presAssocID="{7EED1A2E-550B-4653-BDCF-7C161AAA91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A89B39E-008D-4650-992C-F2BD56D1F53F}" type="pres">
      <dgm:prSet presAssocID="{7EED1A2E-550B-4653-BDCF-7C161AAA91D1}" presName="spaceRect" presStyleCnt="0"/>
      <dgm:spPr/>
    </dgm:pt>
    <dgm:pt modelId="{9E0EE4DB-E8C0-4DF5-8309-77C6404C2142}" type="pres">
      <dgm:prSet presAssocID="{7EED1A2E-550B-4653-BDCF-7C161AAA91D1}" presName="textRect" presStyleLbl="revTx" presStyleIdx="1" presStyleCnt="4">
        <dgm:presLayoutVars>
          <dgm:chMax val="1"/>
          <dgm:chPref val="1"/>
        </dgm:presLayoutVars>
      </dgm:prSet>
      <dgm:spPr/>
    </dgm:pt>
    <dgm:pt modelId="{7961E31D-FC78-4992-AE8B-99C3854A38D7}" type="pres">
      <dgm:prSet presAssocID="{E7225052-D963-43CB-9581-24986ECE1EE7}" presName="sibTrans" presStyleCnt="0"/>
      <dgm:spPr/>
    </dgm:pt>
    <dgm:pt modelId="{E14DD9D5-9CB7-4150-BD83-97EBF0583DE5}" type="pres">
      <dgm:prSet presAssocID="{EE0B18FB-EDD3-4A4B-8CC1-465FD3693CD4}" presName="compNode" presStyleCnt="0"/>
      <dgm:spPr/>
    </dgm:pt>
    <dgm:pt modelId="{925302FC-BD4A-4F63-BC79-A58158955FDD}" type="pres">
      <dgm:prSet presAssocID="{EE0B18FB-EDD3-4A4B-8CC1-465FD3693C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C8F471AF-24F7-4887-BDA8-8B5178EA8884}" type="pres">
      <dgm:prSet presAssocID="{EE0B18FB-EDD3-4A4B-8CC1-465FD3693CD4}" presName="spaceRect" presStyleCnt="0"/>
      <dgm:spPr/>
    </dgm:pt>
    <dgm:pt modelId="{BE851700-AA40-4D85-B450-3E99082447B7}" type="pres">
      <dgm:prSet presAssocID="{EE0B18FB-EDD3-4A4B-8CC1-465FD3693CD4}" presName="textRect" presStyleLbl="revTx" presStyleIdx="2" presStyleCnt="4">
        <dgm:presLayoutVars>
          <dgm:chMax val="1"/>
          <dgm:chPref val="1"/>
        </dgm:presLayoutVars>
      </dgm:prSet>
      <dgm:spPr/>
    </dgm:pt>
    <dgm:pt modelId="{F9B3EAD2-B08D-430B-BE48-FF1A41A8CA99}" type="pres">
      <dgm:prSet presAssocID="{5B6A726A-B2C4-4107-ADBB-D647B3B033F8}" presName="sibTrans" presStyleCnt="0"/>
      <dgm:spPr/>
    </dgm:pt>
    <dgm:pt modelId="{4184D0F8-6B1D-42D5-A13D-A95B411522F6}" type="pres">
      <dgm:prSet presAssocID="{19C0CBA3-A6C8-4708-9632-E69B2E9A48C7}" presName="compNode" presStyleCnt="0"/>
      <dgm:spPr/>
    </dgm:pt>
    <dgm:pt modelId="{314E40A8-CFF1-4DF1-98C3-752A5C94BD12}" type="pres">
      <dgm:prSet presAssocID="{19C0CBA3-A6C8-4708-9632-E69B2E9A48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F9C6463-D92A-45F2-99F8-95F770F47694}" type="pres">
      <dgm:prSet presAssocID="{19C0CBA3-A6C8-4708-9632-E69B2E9A48C7}" presName="spaceRect" presStyleCnt="0"/>
      <dgm:spPr/>
    </dgm:pt>
    <dgm:pt modelId="{95099F71-5C29-4D64-B711-84D876946B24}" type="pres">
      <dgm:prSet presAssocID="{19C0CBA3-A6C8-4708-9632-E69B2E9A48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8BF61C-DB9B-4211-8A43-C8EC6395B9B2}" type="presOf" srcId="{7EED1A2E-550B-4653-BDCF-7C161AAA91D1}" destId="{9E0EE4DB-E8C0-4DF5-8309-77C6404C2142}" srcOrd="0" destOrd="0" presId="urn:microsoft.com/office/officeart/2018/2/layout/IconLabelList"/>
    <dgm:cxn modelId="{98B2B11E-4ECD-45D8-84D3-6C93EE7DB6CD}" srcId="{AD699C22-A97D-4712-9E8F-4494D2EC3777}" destId="{EE0B18FB-EDD3-4A4B-8CC1-465FD3693CD4}" srcOrd="2" destOrd="0" parTransId="{16ADAFB2-0177-44B2-9A0B-627F0481AA4E}" sibTransId="{5B6A726A-B2C4-4107-ADBB-D647B3B033F8}"/>
    <dgm:cxn modelId="{E45C0E6A-3F58-4D0D-BB30-6A62597BEB15}" srcId="{AD699C22-A97D-4712-9E8F-4494D2EC3777}" destId="{7EED1A2E-550B-4653-BDCF-7C161AAA91D1}" srcOrd="1" destOrd="0" parTransId="{6E5B5933-FDE3-4DC3-9AB8-8C26BCE24303}" sibTransId="{E7225052-D963-43CB-9581-24986ECE1EE7}"/>
    <dgm:cxn modelId="{94A5504E-740B-47C0-9D68-C192764E76BA}" srcId="{AD699C22-A97D-4712-9E8F-4494D2EC3777}" destId="{84AD5FBB-9F1B-442A-A3C8-ACFCAFBE6720}" srcOrd="0" destOrd="0" parTransId="{E55C6CE2-7915-42D4-98F5-DD8B8DB03850}" sibTransId="{915976C4-100A-402A-B219-B961A7EE3CC5}"/>
    <dgm:cxn modelId="{21610194-351F-4851-932F-1A4E76B91740}" srcId="{AD699C22-A97D-4712-9E8F-4494D2EC3777}" destId="{19C0CBA3-A6C8-4708-9632-E69B2E9A48C7}" srcOrd="3" destOrd="0" parTransId="{569A5AA9-A473-46B2-B60B-E051B3AC422F}" sibTransId="{2024DA96-DE08-4E33-B5AD-9574E4AF4136}"/>
    <dgm:cxn modelId="{E0F9BE9C-BDF2-430D-AE11-9477914196AD}" type="presOf" srcId="{EE0B18FB-EDD3-4A4B-8CC1-465FD3693CD4}" destId="{BE851700-AA40-4D85-B450-3E99082447B7}" srcOrd="0" destOrd="0" presId="urn:microsoft.com/office/officeart/2018/2/layout/IconLabelList"/>
    <dgm:cxn modelId="{DD53DBAB-F0A3-42B7-83B5-4B654AC3D7F5}" type="presOf" srcId="{19C0CBA3-A6C8-4708-9632-E69B2E9A48C7}" destId="{95099F71-5C29-4D64-B711-84D876946B24}" srcOrd="0" destOrd="0" presId="urn:microsoft.com/office/officeart/2018/2/layout/IconLabelList"/>
    <dgm:cxn modelId="{DE3943C2-B150-4D62-8690-2ABE6C46FC23}" type="presOf" srcId="{AD699C22-A97D-4712-9E8F-4494D2EC3777}" destId="{CC471CCE-AC25-45C9-B77F-FFCF328AED2F}" srcOrd="0" destOrd="0" presId="urn:microsoft.com/office/officeart/2018/2/layout/IconLabelList"/>
    <dgm:cxn modelId="{40DEB5DB-98E7-4DF5-A81D-DA6356E1D621}" type="presOf" srcId="{84AD5FBB-9F1B-442A-A3C8-ACFCAFBE6720}" destId="{1FC83BCA-5130-491B-A35B-C9EA39839054}" srcOrd="0" destOrd="0" presId="urn:microsoft.com/office/officeart/2018/2/layout/IconLabelList"/>
    <dgm:cxn modelId="{3300BAF5-E6C0-4314-92FF-043761908151}" type="presParOf" srcId="{CC471CCE-AC25-45C9-B77F-FFCF328AED2F}" destId="{C6587B1C-4EE4-45E2-B640-C1C6C174132C}" srcOrd="0" destOrd="0" presId="urn:microsoft.com/office/officeart/2018/2/layout/IconLabelList"/>
    <dgm:cxn modelId="{555F8D1A-5408-4A36-88C9-F3B2843F417D}" type="presParOf" srcId="{C6587B1C-4EE4-45E2-B640-C1C6C174132C}" destId="{85D919E5-4075-4BD3-8E1C-72622FEB375B}" srcOrd="0" destOrd="0" presId="urn:microsoft.com/office/officeart/2018/2/layout/IconLabelList"/>
    <dgm:cxn modelId="{99C1634E-101E-4499-8BA7-5C7590DAC57D}" type="presParOf" srcId="{C6587B1C-4EE4-45E2-B640-C1C6C174132C}" destId="{D8D8EB61-628C-48CB-AAD2-ACD8AB29F51F}" srcOrd="1" destOrd="0" presId="urn:microsoft.com/office/officeart/2018/2/layout/IconLabelList"/>
    <dgm:cxn modelId="{D137CE5D-7D7E-45D6-A013-66845989021C}" type="presParOf" srcId="{C6587B1C-4EE4-45E2-B640-C1C6C174132C}" destId="{1FC83BCA-5130-491B-A35B-C9EA39839054}" srcOrd="2" destOrd="0" presId="urn:microsoft.com/office/officeart/2018/2/layout/IconLabelList"/>
    <dgm:cxn modelId="{73E3AE7A-5A4D-4FD7-AEC2-9D658ECBC8D2}" type="presParOf" srcId="{CC471CCE-AC25-45C9-B77F-FFCF328AED2F}" destId="{7F2D5DAC-662F-4A8A-8B1B-6FC4238C9662}" srcOrd="1" destOrd="0" presId="urn:microsoft.com/office/officeart/2018/2/layout/IconLabelList"/>
    <dgm:cxn modelId="{DAA96F92-2F7D-4510-9C21-BC56BFAC1769}" type="presParOf" srcId="{CC471CCE-AC25-45C9-B77F-FFCF328AED2F}" destId="{258D0399-37A2-415A-B238-67FAE7476470}" srcOrd="2" destOrd="0" presId="urn:microsoft.com/office/officeart/2018/2/layout/IconLabelList"/>
    <dgm:cxn modelId="{D63706ED-932A-4512-AE78-FD255E89198A}" type="presParOf" srcId="{258D0399-37A2-415A-B238-67FAE7476470}" destId="{E4278CE8-B734-4C0F-99F3-BCDD9D55011D}" srcOrd="0" destOrd="0" presId="urn:microsoft.com/office/officeart/2018/2/layout/IconLabelList"/>
    <dgm:cxn modelId="{08DDF451-77BC-48A4-ABC8-F6C216335290}" type="presParOf" srcId="{258D0399-37A2-415A-B238-67FAE7476470}" destId="{EA89B39E-008D-4650-992C-F2BD56D1F53F}" srcOrd="1" destOrd="0" presId="urn:microsoft.com/office/officeart/2018/2/layout/IconLabelList"/>
    <dgm:cxn modelId="{D9AE1D03-BE73-4931-ABF1-3EA41D6BE1E7}" type="presParOf" srcId="{258D0399-37A2-415A-B238-67FAE7476470}" destId="{9E0EE4DB-E8C0-4DF5-8309-77C6404C2142}" srcOrd="2" destOrd="0" presId="urn:microsoft.com/office/officeart/2018/2/layout/IconLabelList"/>
    <dgm:cxn modelId="{78B2C5F1-E66B-40D7-B8ED-DB1048EE49D9}" type="presParOf" srcId="{CC471CCE-AC25-45C9-B77F-FFCF328AED2F}" destId="{7961E31D-FC78-4992-AE8B-99C3854A38D7}" srcOrd="3" destOrd="0" presId="urn:microsoft.com/office/officeart/2018/2/layout/IconLabelList"/>
    <dgm:cxn modelId="{A057B96A-7040-46AD-968C-4519E629A488}" type="presParOf" srcId="{CC471CCE-AC25-45C9-B77F-FFCF328AED2F}" destId="{E14DD9D5-9CB7-4150-BD83-97EBF0583DE5}" srcOrd="4" destOrd="0" presId="urn:microsoft.com/office/officeart/2018/2/layout/IconLabelList"/>
    <dgm:cxn modelId="{F7E099EA-F90F-4343-9BC9-2383A038E94A}" type="presParOf" srcId="{E14DD9D5-9CB7-4150-BD83-97EBF0583DE5}" destId="{925302FC-BD4A-4F63-BC79-A58158955FDD}" srcOrd="0" destOrd="0" presId="urn:microsoft.com/office/officeart/2018/2/layout/IconLabelList"/>
    <dgm:cxn modelId="{E027153C-EA75-4C2D-AAAA-7ED63821CA32}" type="presParOf" srcId="{E14DD9D5-9CB7-4150-BD83-97EBF0583DE5}" destId="{C8F471AF-24F7-4887-BDA8-8B5178EA8884}" srcOrd="1" destOrd="0" presId="urn:microsoft.com/office/officeart/2018/2/layout/IconLabelList"/>
    <dgm:cxn modelId="{4B491D21-459B-4770-98B8-4E9DA1E5644D}" type="presParOf" srcId="{E14DD9D5-9CB7-4150-BD83-97EBF0583DE5}" destId="{BE851700-AA40-4D85-B450-3E99082447B7}" srcOrd="2" destOrd="0" presId="urn:microsoft.com/office/officeart/2018/2/layout/IconLabelList"/>
    <dgm:cxn modelId="{25F400A9-0361-41DA-873A-2D6A25E79782}" type="presParOf" srcId="{CC471CCE-AC25-45C9-B77F-FFCF328AED2F}" destId="{F9B3EAD2-B08D-430B-BE48-FF1A41A8CA99}" srcOrd="5" destOrd="0" presId="urn:microsoft.com/office/officeart/2018/2/layout/IconLabelList"/>
    <dgm:cxn modelId="{8E14DC15-7AC2-4B39-A90F-5D793B36DD11}" type="presParOf" srcId="{CC471CCE-AC25-45C9-B77F-FFCF328AED2F}" destId="{4184D0F8-6B1D-42D5-A13D-A95B411522F6}" srcOrd="6" destOrd="0" presId="urn:microsoft.com/office/officeart/2018/2/layout/IconLabelList"/>
    <dgm:cxn modelId="{1B861AFC-24A4-4A04-BA1F-815AA94BAF95}" type="presParOf" srcId="{4184D0F8-6B1D-42D5-A13D-A95B411522F6}" destId="{314E40A8-CFF1-4DF1-98C3-752A5C94BD12}" srcOrd="0" destOrd="0" presId="urn:microsoft.com/office/officeart/2018/2/layout/IconLabelList"/>
    <dgm:cxn modelId="{FFF9BAA4-3EF0-48B0-A920-1B9B61EBE79B}" type="presParOf" srcId="{4184D0F8-6B1D-42D5-A13D-A95B411522F6}" destId="{CF9C6463-D92A-45F2-99F8-95F770F47694}" srcOrd="1" destOrd="0" presId="urn:microsoft.com/office/officeart/2018/2/layout/IconLabelList"/>
    <dgm:cxn modelId="{3B22F617-D78B-4E0D-A5F1-E92848D3A7A4}" type="presParOf" srcId="{4184D0F8-6B1D-42D5-A13D-A95B411522F6}" destId="{95099F71-5C29-4D64-B711-84D876946B24}" srcOrd="2" destOrd="0" presId="urn:microsoft.com/office/officeart/2018/2/layout/IconLabelList"/>
  </dgm:cxnLst>
  <dgm:bg>
    <a:solidFill>
      <a:schemeClr val="lt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919E5-4075-4BD3-8E1C-72622FEB375B}">
      <dsp:nvSpPr>
        <dsp:cNvPr id="0" name=""/>
        <dsp:cNvSpPr/>
      </dsp:nvSpPr>
      <dsp:spPr>
        <a:xfrm>
          <a:off x="1040268" y="1306996"/>
          <a:ext cx="929393" cy="9293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83BCA-5130-491B-A35B-C9EA39839054}">
      <dsp:nvSpPr>
        <dsp:cNvPr id="0" name=""/>
        <dsp:cNvSpPr/>
      </dsp:nvSpPr>
      <dsp:spPr>
        <a:xfrm>
          <a:off x="472305" y="2527541"/>
          <a:ext cx="206531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get or create process </a:t>
          </a:r>
        </a:p>
      </dsp:txBody>
      <dsp:txXfrm>
        <a:off x="472305" y="2527541"/>
        <a:ext cx="2065317" cy="720000"/>
      </dsp:txXfrm>
    </dsp:sp>
    <dsp:sp modelId="{E4278CE8-B734-4C0F-99F3-BCDD9D55011D}">
      <dsp:nvSpPr>
        <dsp:cNvPr id="0" name=""/>
        <dsp:cNvSpPr/>
      </dsp:nvSpPr>
      <dsp:spPr>
        <a:xfrm>
          <a:off x="3467016" y="1306996"/>
          <a:ext cx="929393" cy="9293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EE4DB-E8C0-4DF5-8309-77C6404C2142}">
      <dsp:nvSpPr>
        <dsp:cNvPr id="0" name=""/>
        <dsp:cNvSpPr/>
      </dsp:nvSpPr>
      <dsp:spPr>
        <a:xfrm>
          <a:off x="2899054" y="2527541"/>
          <a:ext cx="206531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injected data </a:t>
          </a:r>
        </a:p>
      </dsp:txBody>
      <dsp:txXfrm>
        <a:off x="2899054" y="2527541"/>
        <a:ext cx="2065317" cy="720000"/>
      </dsp:txXfrm>
    </dsp:sp>
    <dsp:sp modelId="{925302FC-BD4A-4F63-BC79-A58158955FDD}">
      <dsp:nvSpPr>
        <dsp:cNvPr id="0" name=""/>
        <dsp:cNvSpPr/>
      </dsp:nvSpPr>
      <dsp:spPr>
        <a:xfrm>
          <a:off x="5893765" y="1306996"/>
          <a:ext cx="929393" cy="9293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51700-AA40-4D85-B450-3E99082447B7}">
      <dsp:nvSpPr>
        <dsp:cNvPr id="0" name=""/>
        <dsp:cNvSpPr/>
      </dsp:nvSpPr>
      <dsp:spPr>
        <a:xfrm>
          <a:off x="5325802" y="2527541"/>
          <a:ext cx="206531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transfer to process</a:t>
          </a:r>
        </a:p>
      </dsp:txBody>
      <dsp:txXfrm>
        <a:off x="5325802" y="2527541"/>
        <a:ext cx="2065317" cy="720000"/>
      </dsp:txXfrm>
    </dsp:sp>
    <dsp:sp modelId="{314E40A8-CFF1-4DF1-98C3-752A5C94BD12}">
      <dsp:nvSpPr>
        <dsp:cNvPr id="0" name=""/>
        <dsp:cNvSpPr/>
      </dsp:nvSpPr>
      <dsp:spPr>
        <a:xfrm>
          <a:off x="8320513" y="1306996"/>
          <a:ext cx="929393" cy="9293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99F71-5C29-4D64-B711-84D876946B24}">
      <dsp:nvSpPr>
        <dsp:cNvPr id="0" name=""/>
        <dsp:cNvSpPr/>
      </dsp:nvSpPr>
      <dsp:spPr>
        <a:xfrm>
          <a:off x="7752551" y="2527541"/>
          <a:ext cx="206531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execution</a:t>
          </a:r>
        </a:p>
      </dsp:txBody>
      <dsp:txXfrm>
        <a:off x="7752551" y="2527541"/>
        <a:ext cx="206531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7E7A1-B89B-4C9B-A4F9-C4D235D80772}" type="datetimeFigureOut">
              <a:rPr lang="en-MY" smtClean="0"/>
              <a:t>24/10/2025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028DE-C29B-4B38-8BEA-574B134C755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305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https://github.com/Xacone/BestEdrOfTheMarket/commit/81e7fe9ff31779cb8ea2f375f46eb04d1fa8f550 – OLD</a:t>
            </a:r>
            <a:br>
              <a:rPr lang="en-MY" dirty="0"/>
            </a:br>
            <a:br>
              <a:rPr lang="en-MY" dirty="0"/>
            </a:br>
            <a:r>
              <a:rPr lang="en-MY" dirty="0"/>
              <a:t>https://github.com/Xacone/BestEdrOfTheMarket/blob/main/README.md - New</a:t>
            </a:r>
          </a:p>
          <a:p>
            <a:endParaRPr lang="en-MY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028DE-C29B-4B38-8BEA-574B134C7552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4286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0" name="Google Shape;10;p2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04800" y="2472000"/>
            <a:ext cx="7010400" cy="32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04800" y="5978400"/>
            <a:ext cx="5052000" cy="57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8454800" y="1342333"/>
            <a:ext cx="3432000" cy="5210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689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20" name="Google Shape;20;p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" name="Google Shape;21;p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5269600" y="3844000"/>
            <a:ext cx="6617600" cy="270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10196000" y="2061584"/>
            <a:ext cx="1691200" cy="147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>
            <a:spLocks noGrp="1"/>
          </p:cNvSpPr>
          <p:nvPr>
            <p:ph type="pic" idx="3"/>
          </p:nvPr>
        </p:nvSpPr>
        <p:spPr>
          <a:xfrm>
            <a:off x="304800" y="1342333"/>
            <a:ext cx="3432000" cy="5210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1490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30" name="Google Shape;30;p4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1" name="Google Shape;31;p4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32" name="Google Shape;32;p4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600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16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39" name="Google Shape;39;p5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" name="Google Shape;40;p5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41" name="Google Shape;41;p5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" name="Google Shape;42;p5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304804" y="2183100"/>
            <a:ext cx="52552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304804" y="3980101"/>
            <a:ext cx="52552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32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304804" y="2656297"/>
            <a:ext cx="5255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304804" y="4453300"/>
            <a:ext cx="5255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11582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" name="Google Shape;49;p5"/>
          <p:cNvSpPr>
            <a:spLocks noGrp="1"/>
          </p:cNvSpPr>
          <p:nvPr>
            <p:ph type="pic" idx="5"/>
          </p:nvPr>
        </p:nvSpPr>
        <p:spPr>
          <a:xfrm>
            <a:off x="7092800" y="1801200"/>
            <a:ext cx="4794000" cy="4752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71701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6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52" name="Google Shape;52;p6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3" name="Google Shape;53;p6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54" name="Google Shape;54;p6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" name="Google Shape;55;p6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11582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491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60" name="Google Shape;60;p7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1" name="Google Shape;61;p7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62" name="Google Shape;62;p7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" name="Google Shape;64;p7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5331200" cy="192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2146167" y="2754833"/>
            <a:ext cx="5098800" cy="3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7621132" y="0"/>
            <a:ext cx="45708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986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8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70" name="Google Shape;70;p8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1" name="Google Shape;71;p8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729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9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78" name="Google Shape;78;p9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9" name="Google Shape;79;p9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80" name="Google Shape;80;p9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" name="Google Shape;82;p9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83" name="Google Shape;83;p9"/>
          <p:cNvSpPr txBox="1">
            <a:spLocks noGrp="1"/>
          </p:cNvSpPr>
          <p:nvPr>
            <p:ph type="subTitle" idx="1"/>
          </p:nvPr>
        </p:nvSpPr>
        <p:spPr>
          <a:xfrm>
            <a:off x="960085" y="2106833"/>
            <a:ext cx="4796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2"/>
          </p:nvPr>
        </p:nvSpPr>
        <p:spPr>
          <a:xfrm>
            <a:off x="6435915" y="2106833"/>
            <a:ext cx="4796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309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304800" y="5568000"/>
            <a:ext cx="3544000" cy="98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673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1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91" name="Google Shape;91;p11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2" name="Google Shape;92;p11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93" name="Google Shape;93;p11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" name="Google Shape;94;p11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" name="Google Shape;95;p11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96" name="Google Shape;96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603800"/>
            <a:ext cx="8768000" cy="1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97" name="Google Shape;97;p11"/>
          <p:cNvSpPr txBox="1">
            <a:spLocks noGrp="1"/>
          </p:cNvSpPr>
          <p:nvPr>
            <p:ph type="subTitle" idx="1"/>
          </p:nvPr>
        </p:nvSpPr>
        <p:spPr>
          <a:xfrm>
            <a:off x="1712000" y="3755000"/>
            <a:ext cx="8768000" cy="49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530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700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and description">
  <p:cSld name="Table of contents and 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01" name="Google Shape;101;p1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2" name="Google Shape;102;p1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03" name="Google Shape;103;p1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304800" y="5785200"/>
            <a:ext cx="11582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8257591" y="591967"/>
            <a:ext cx="2928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667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"/>
          </p:nvPr>
        </p:nvSpPr>
        <p:spPr>
          <a:xfrm>
            <a:off x="8257591" y="1233628"/>
            <a:ext cx="29240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3"/>
          </p:nvPr>
        </p:nvSpPr>
        <p:spPr>
          <a:xfrm>
            <a:off x="8257591" y="2516951"/>
            <a:ext cx="29240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8257591" y="4441933"/>
            <a:ext cx="29240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5"/>
          </p:nvPr>
        </p:nvSpPr>
        <p:spPr>
          <a:xfrm>
            <a:off x="8257591" y="3800272"/>
            <a:ext cx="29240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6"/>
          </p:nvPr>
        </p:nvSpPr>
        <p:spPr>
          <a:xfrm>
            <a:off x="8257591" y="1875289"/>
            <a:ext cx="29240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7"/>
          </p:nvPr>
        </p:nvSpPr>
        <p:spPr>
          <a:xfrm>
            <a:off x="8257591" y="3158611"/>
            <a:ext cx="29240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8" hasCustomPrompt="1"/>
          </p:nvPr>
        </p:nvSpPr>
        <p:spPr>
          <a:xfrm>
            <a:off x="11283200" y="2516739"/>
            <a:ext cx="604000" cy="41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9" hasCustomPrompt="1"/>
          </p:nvPr>
        </p:nvSpPr>
        <p:spPr>
          <a:xfrm>
            <a:off x="11283200" y="1233291"/>
            <a:ext cx="604000" cy="41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13" hasCustomPrompt="1"/>
          </p:nvPr>
        </p:nvSpPr>
        <p:spPr>
          <a:xfrm>
            <a:off x="11283200" y="3158461"/>
            <a:ext cx="604000" cy="41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4" hasCustomPrompt="1"/>
          </p:nvPr>
        </p:nvSpPr>
        <p:spPr>
          <a:xfrm>
            <a:off x="11283200" y="3800185"/>
            <a:ext cx="604000" cy="41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15" hasCustomPrompt="1"/>
          </p:nvPr>
        </p:nvSpPr>
        <p:spPr>
          <a:xfrm>
            <a:off x="11283200" y="591967"/>
            <a:ext cx="604000" cy="414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12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16" hasCustomPrompt="1"/>
          </p:nvPr>
        </p:nvSpPr>
        <p:spPr>
          <a:xfrm>
            <a:off x="11283200" y="1875015"/>
            <a:ext cx="604000" cy="41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8266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17" hasCustomPrompt="1"/>
          </p:nvPr>
        </p:nvSpPr>
        <p:spPr>
          <a:xfrm>
            <a:off x="11283200" y="4441909"/>
            <a:ext cx="604000" cy="41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8"/>
          </p:nvPr>
        </p:nvSpPr>
        <p:spPr>
          <a:xfrm>
            <a:off x="8253133" y="5083600"/>
            <a:ext cx="2928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19" hasCustomPrompt="1"/>
          </p:nvPr>
        </p:nvSpPr>
        <p:spPr>
          <a:xfrm>
            <a:off x="11283200" y="5083633"/>
            <a:ext cx="604000" cy="41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2133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4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20"/>
          </p:nvPr>
        </p:nvSpPr>
        <p:spPr>
          <a:xfrm>
            <a:off x="4762800" y="591967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21"/>
          </p:nvPr>
        </p:nvSpPr>
        <p:spPr>
          <a:xfrm>
            <a:off x="4762800" y="1233628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2"/>
          </p:nvPr>
        </p:nvSpPr>
        <p:spPr>
          <a:xfrm>
            <a:off x="4762800" y="1875291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23"/>
          </p:nvPr>
        </p:nvSpPr>
        <p:spPr>
          <a:xfrm>
            <a:off x="4762800" y="2516952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24"/>
          </p:nvPr>
        </p:nvSpPr>
        <p:spPr>
          <a:xfrm>
            <a:off x="4762800" y="3158615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25"/>
          </p:nvPr>
        </p:nvSpPr>
        <p:spPr>
          <a:xfrm>
            <a:off x="4762800" y="3800276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26"/>
          </p:nvPr>
        </p:nvSpPr>
        <p:spPr>
          <a:xfrm>
            <a:off x="4762800" y="4441939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27"/>
          </p:nvPr>
        </p:nvSpPr>
        <p:spPr>
          <a:xfrm>
            <a:off x="4762800" y="5083600"/>
            <a:ext cx="3494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856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4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33" name="Google Shape;133;p14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4" name="Google Shape;134;p14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35" name="Google Shape;135;p14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" name="Google Shape;136;p14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" name="Google Shape;137;p14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304800" y="1151000"/>
            <a:ext cx="7416800" cy="209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ubTitle" idx="1"/>
          </p:nvPr>
        </p:nvSpPr>
        <p:spPr>
          <a:xfrm>
            <a:off x="4470400" y="3549000"/>
            <a:ext cx="7416800" cy="24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3493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42" name="Google Shape;142;p15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3" name="Google Shape;143;p15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44" name="Google Shape;144;p15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298439" y="4478801"/>
            <a:ext cx="8354400" cy="13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15"/>
          <p:cNvSpPr>
            <a:spLocks noGrp="1"/>
          </p:cNvSpPr>
          <p:nvPr>
            <p:ph type="pic" idx="2"/>
          </p:nvPr>
        </p:nvSpPr>
        <p:spPr>
          <a:xfrm>
            <a:off x="304800" y="844000"/>
            <a:ext cx="9732800" cy="352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5"/>
          <p:cNvSpPr txBox="1">
            <a:spLocks noGrp="1"/>
          </p:cNvSpPr>
          <p:nvPr>
            <p:ph type="subTitle" idx="1"/>
          </p:nvPr>
        </p:nvSpPr>
        <p:spPr>
          <a:xfrm>
            <a:off x="5254833" y="5792400"/>
            <a:ext cx="66324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33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52" name="Google Shape;152;p16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3" name="Google Shape;153;p16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54" name="Google Shape;154;p16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304800" y="5785200"/>
            <a:ext cx="11582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7251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60" name="Google Shape;160;p17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1" name="Google Shape;161;p17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4" name="Google Shape;164;p17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11582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4587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8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68" name="Google Shape;168;p18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9" name="Google Shape;169;p18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304600" y="4706000"/>
            <a:ext cx="11582800" cy="1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1"/>
          </p:nvPr>
        </p:nvSpPr>
        <p:spPr>
          <a:xfrm>
            <a:off x="304600" y="1520400"/>
            <a:ext cx="3210400" cy="19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ubTitle" idx="2"/>
          </p:nvPr>
        </p:nvSpPr>
        <p:spPr>
          <a:xfrm>
            <a:off x="3918600" y="1520400"/>
            <a:ext cx="3210400" cy="19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ubTitle" idx="3"/>
          </p:nvPr>
        </p:nvSpPr>
        <p:spPr>
          <a:xfrm>
            <a:off x="7532601" y="1520400"/>
            <a:ext cx="3210400" cy="19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264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9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79" name="Google Shape;179;p19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0" name="Google Shape;180;p19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81" name="Google Shape;181;p19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84" name="Google Shape;184;p19"/>
          <p:cNvSpPr txBox="1">
            <a:spLocks noGrp="1"/>
          </p:cNvSpPr>
          <p:nvPr>
            <p:ph type="title"/>
          </p:nvPr>
        </p:nvSpPr>
        <p:spPr>
          <a:xfrm>
            <a:off x="304800" y="304795"/>
            <a:ext cx="1158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1"/>
          </p:nvPr>
        </p:nvSpPr>
        <p:spPr>
          <a:xfrm>
            <a:off x="304800" y="2033433"/>
            <a:ext cx="5644800" cy="7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2"/>
          </p:nvPr>
        </p:nvSpPr>
        <p:spPr>
          <a:xfrm>
            <a:off x="6242200" y="2033433"/>
            <a:ext cx="5644800" cy="7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3"/>
          </p:nvPr>
        </p:nvSpPr>
        <p:spPr>
          <a:xfrm>
            <a:off x="304800" y="3678000"/>
            <a:ext cx="5644800" cy="7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4"/>
          </p:nvPr>
        </p:nvSpPr>
        <p:spPr>
          <a:xfrm>
            <a:off x="6242200" y="3678000"/>
            <a:ext cx="5644800" cy="7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5"/>
          </p:nvPr>
        </p:nvSpPr>
        <p:spPr>
          <a:xfrm>
            <a:off x="304800" y="5322567"/>
            <a:ext cx="5644800" cy="7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ubTitle" idx="6"/>
          </p:nvPr>
        </p:nvSpPr>
        <p:spPr>
          <a:xfrm>
            <a:off x="6242200" y="5322567"/>
            <a:ext cx="5644800" cy="7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1" name="Google Shape;191;p19"/>
          <p:cNvSpPr txBox="1">
            <a:spLocks noGrp="1"/>
          </p:cNvSpPr>
          <p:nvPr>
            <p:ph type="subTitle" idx="7"/>
          </p:nvPr>
        </p:nvSpPr>
        <p:spPr>
          <a:xfrm>
            <a:off x="304800" y="1560233"/>
            <a:ext cx="56448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8"/>
          </p:nvPr>
        </p:nvSpPr>
        <p:spPr>
          <a:xfrm>
            <a:off x="6242200" y="1560233"/>
            <a:ext cx="56448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9"/>
          </p:nvPr>
        </p:nvSpPr>
        <p:spPr>
          <a:xfrm>
            <a:off x="304800" y="4849367"/>
            <a:ext cx="56448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13"/>
          </p:nvPr>
        </p:nvSpPr>
        <p:spPr>
          <a:xfrm>
            <a:off x="304800" y="3204800"/>
            <a:ext cx="56448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4"/>
          </p:nvPr>
        </p:nvSpPr>
        <p:spPr>
          <a:xfrm>
            <a:off x="6242200" y="3204799"/>
            <a:ext cx="56448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15"/>
          </p:nvPr>
        </p:nvSpPr>
        <p:spPr>
          <a:xfrm>
            <a:off x="6242200" y="4849364"/>
            <a:ext cx="5644800" cy="5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133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3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561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0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199" name="Google Shape;199;p20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0" name="Google Shape;200;p20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01" name="Google Shape;201;p20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04" name="Google Shape;204;p20"/>
          <p:cNvSpPr txBox="1">
            <a:spLocks noGrp="1"/>
          </p:cNvSpPr>
          <p:nvPr>
            <p:ph type="title"/>
          </p:nvPr>
        </p:nvSpPr>
        <p:spPr>
          <a:xfrm>
            <a:off x="304800" y="5790000"/>
            <a:ext cx="11582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title" idx="2" hasCustomPrompt="1"/>
          </p:nvPr>
        </p:nvSpPr>
        <p:spPr>
          <a:xfrm>
            <a:off x="304959" y="1105400"/>
            <a:ext cx="3199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2933" b="0">
                <a:solidFill>
                  <a:schemeClr val="dk2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1"/>
          </p:nvPr>
        </p:nvSpPr>
        <p:spPr>
          <a:xfrm>
            <a:off x="304800" y="1701400"/>
            <a:ext cx="3199600" cy="73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title" idx="3" hasCustomPrompt="1"/>
          </p:nvPr>
        </p:nvSpPr>
        <p:spPr>
          <a:xfrm>
            <a:off x="304959" y="4417800"/>
            <a:ext cx="3199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2933" b="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4"/>
          </p:nvPr>
        </p:nvSpPr>
        <p:spPr>
          <a:xfrm>
            <a:off x="304800" y="5013800"/>
            <a:ext cx="3199600" cy="73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title" idx="5" hasCustomPrompt="1"/>
          </p:nvPr>
        </p:nvSpPr>
        <p:spPr>
          <a:xfrm>
            <a:off x="304959" y="2761600"/>
            <a:ext cx="3199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2933" b="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6"/>
          </p:nvPr>
        </p:nvSpPr>
        <p:spPr>
          <a:xfrm>
            <a:off x="304800" y="3357600"/>
            <a:ext cx="3199600" cy="73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0"/>
          <p:cNvSpPr>
            <a:spLocks noGrp="1"/>
          </p:cNvSpPr>
          <p:nvPr>
            <p:ph type="pic" idx="7"/>
          </p:nvPr>
        </p:nvSpPr>
        <p:spPr>
          <a:xfrm>
            <a:off x="4988800" y="844000"/>
            <a:ext cx="6898400" cy="4839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52811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1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214" name="Google Shape;214;p21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5" name="Google Shape;215;p21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" name="Google Shape;218;p21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>
            <a:off x="304796" y="3351600"/>
            <a:ext cx="4734400" cy="32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subTitle" idx="1"/>
          </p:nvPr>
        </p:nvSpPr>
        <p:spPr>
          <a:xfrm>
            <a:off x="5867167" y="3351600"/>
            <a:ext cx="5930800" cy="15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867167" y="5304600"/>
            <a:ext cx="5930800" cy="6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33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96555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2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224" name="Google Shape;224;p22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25" name="Google Shape;225;p22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6" name="Google Shape;226;p22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7" name="Google Shape;227;p22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8" name="Google Shape;228;p22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13381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3"/>
          <p:cNvGrpSpPr/>
          <p:nvPr/>
        </p:nvGrpSpPr>
        <p:grpSpPr>
          <a:xfrm>
            <a:off x="133" y="0"/>
            <a:ext cx="12192000" cy="304800"/>
            <a:chOff x="100" y="0"/>
            <a:chExt cx="9144000" cy="228600"/>
          </a:xfrm>
        </p:grpSpPr>
        <p:sp>
          <p:nvSpPr>
            <p:cNvPr id="231" name="Google Shape;231;p2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32" name="Google Shape;232;p2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33" name="Google Shape;233;p2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4" name="Google Shape;234;p2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5" name="Google Shape;235;p2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64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46961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21B0-FAEA-A790-4C92-FAD33C69F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A07CC-6AAF-3D8E-012E-11DF82117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23D5C-E268-451A-144E-611481A8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7C4-4C3F-45E1-AC91-362F127A6622}" type="datetimeFigureOut">
              <a:rPr lang="en-MY" smtClean="0"/>
              <a:t>24/10/2025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9750B-4423-ED9A-8B70-90E52896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A9FD9-09B3-0A97-25AB-4F8BAEFF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E4448-5B0B-4F8E-A69E-FCFE6FFEE6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193753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E658-C2B5-1A9E-0428-C50E7C06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9837B-73AD-E156-F896-5DF0BC1A2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E98B4-F7D5-9219-5B0C-1D12720D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97C4-4C3F-45E1-AC91-362F127A6622}" type="datetimeFigureOut">
              <a:rPr lang="en-MY" smtClean="0"/>
              <a:t>24/10/2025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FF060-3A19-1400-6DF7-4A90F5BA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35637-D55F-2041-8BCA-CF20720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E4448-5B0B-4F8E-A69E-FCFE6FFEE6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1480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54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/>
          <p:nvPr/>
        </p:nvSpPr>
        <p:spPr>
          <a:xfrm>
            <a:off x="-100" y="-13700"/>
            <a:ext cx="12192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2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92000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>
  <p:cSld name="Title and two column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/>
          <p:nvPr/>
        </p:nvSpPr>
        <p:spPr>
          <a:xfrm>
            <a:off x="-100" y="-13700"/>
            <a:ext cx="12192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27"/>
          <p:cNvSpPr txBox="1">
            <a:spLocks noGrp="1"/>
          </p:cNvSpPr>
          <p:nvPr>
            <p:ph type="title"/>
          </p:nvPr>
        </p:nvSpPr>
        <p:spPr>
          <a:xfrm>
            <a:off x="971369" y="719333"/>
            <a:ext cx="44636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title" idx="2"/>
          </p:nvPr>
        </p:nvSpPr>
        <p:spPr>
          <a:xfrm>
            <a:off x="6636733" y="719333"/>
            <a:ext cx="46112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670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71578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52887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5.gif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2AB6-D394-EEA2-68D9-BBB9FAF9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00" y="2603800"/>
            <a:ext cx="8768000" cy="1066000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200"/>
              <a:t>EDR 101</a:t>
            </a:r>
            <a:endParaRPr lang="en-MY" sz="6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1AAFF-67E2-5FBA-6132-1974B7DA0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54999"/>
            <a:ext cx="12070080" cy="230405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Journey to bypassing EDR, from 0 to 0.1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(and how not to jump into the rabbit hole)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MY" sz="1700" dirty="0"/>
              <a:t>[24</a:t>
            </a:r>
            <a:r>
              <a:rPr lang="en-MY" sz="1700" baseline="30000" dirty="0"/>
              <a:t>th</a:t>
            </a:r>
            <a:r>
              <a:rPr lang="en-MY" sz="1700" dirty="0"/>
              <a:t> October 2025]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MY" sz="1700" dirty="0"/>
              <a:t>[</a:t>
            </a:r>
            <a:r>
              <a:rPr lang="en-MY" sz="1700" dirty="0" err="1"/>
              <a:t>Offsec</a:t>
            </a:r>
            <a:r>
              <a:rPr lang="en-MY" sz="1700" dirty="0"/>
              <a:t> 2</a:t>
            </a:r>
            <a:r>
              <a:rPr lang="en-MY" sz="1700" baseline="30000" dirty="0"/>
              <a:t>nd</a:t>
            </a:r>
            <a:r>
              <a:rPr lang="en-MY" sz="1700" dirty="0"/>
              <a:t> Meetup]</a:t>
            </a:r>
          </a:p>
        </p:txBody>
      </p:sp>
      <p:pic>
        <p:nvPicPr>
          <p:cNvPr id="1028" name="Picture 4" descr="offensive-security (Offsec) · GitHub">
            <a:extLst>
              <a:ext uri="{FF2B5EF4-FFF2-40B4-BE49-F238E27FC236}">
                <a16:creationId xmlns:a16="http://schemas.microsoft.com/office/drawing/2014/main" id="{26B6542C-F0EC-0573-B8F5-0E028121B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59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E25E-51DF-525E-23BA-F3634CCE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it?</a:t>
            </a:r>
            <a:endParaRPr lang="en-MY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C39F-9A0C-0B57-6947-2338DBA16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66" y="1356967"/>
            <a:ext cx="11130543" cy="4555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800" dirty="0"/>
              <a:t>A software or an agent that 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watches behaviors, 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spots suspicious activity (even if the file is new/unknown) and 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let the security team investigate and contain it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AV = a software that mainly blocks known bad files</a:t>
            </a:r>
            <a:endParaRPr lang="en-MY" sz="2800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2476532A-F530-328E-C068-FE36DB400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61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EBA7A-B8E0-D1A9-3652-ED2BA2A4E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Detection Methods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3FEAD-F594-5486-4700-34A8A949E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</p:spPr>
        <p:txBody>
          <a:bodyPr wrap="square" anchor="t">
            <a:noAutofit/>
          </a:bodyPr>
          <a:lstStyle/>
          <a:p>
            <a:pPr>
              <a:lnSpc>
                <a:spcPct val="250000"/>
              </a:lnSpc>
              <a:spcAft>
                <a:spcPts val="600"/>
              </a:spcAft>
            </a:pPr>
            <a:r>
              <a:rPr lang="en-US" sz="2400" dirty="0"/>
              <a:t>Signature/Reputation</a:t>
            </a:r>
          </a:p>
          <a:p>
            <a:pPr>
              <a:lnSpc>
                <a:spcPct val="250000"/>
              </a:lnSpc>
              <a:spcAft>
                <a:spcPts val="600"/>
              </a:spcAft>
            </a:pPr>
            <a:r>
              <a:rPr lang="en-US" sz="2400" dirty="0"/>
              <a:t>Heuristics</a:t>
            </a:r>
          </a:p>
          <a:p>
            <a:pPr>
              <a:lnSpc>
                <a:spcPct val="250000"/>
              </a:lnSpc>
              <a:spcAft>
                <a:spcPts val="600"/>
              </a:spcAft>
            </a:pPr>
            <a:r>
              <a:rPr lang="en-US" sz="2400" dirty="0"/>
              <a:t>Behavioral Analytics</a:t>
            </a:r>
          </a:p>
          <a:p>
            <a:pPr>
              <a:lnSpc>
                <a:spcPct val="250000"/>
              </a:lnSpc>
              <a:spcAft>
                <a:spcPts val="600"/>
              </a:spcAft>
            </a:pPr>
            <a:r>
              <a:rPr lang="en-US" sz="2400" dirty="0"/>
              <a:t>Anomaly &amp; ML Models</a:t>
            </a:r>
          </a:p>
          <a:p>
            <a:pPr>
              <a:lnSpc>
                <a:spcPct val="250000"/>
              </a:lnSpc>
              <a:spcAft>
                <a:spcPts val="600"/>
              </a:spcAft>
            </a:pPr>
            <a:r>
              <a:rPr lang="en-US" sz="2400" dirty="0"/>
              <a:t>Etc..</a:t>
            </a:r>
            <a:endParaRPr lang="en-MY" sz="2400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E266A488-1343-FD0A-0395-4B86A21AA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69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AD6D-C545-9765-4195-1092F344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to bypass EDR?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F6C98-E4B9-2764-8895-BAB4A6E2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2"/>
            <a:ext cx="11121510" cy="5081337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sz="2800" dirty="0"/>
              <a:t>Red team engagements</a:t>
            </a:r>
          </a:p>
          <a:p>
            <a:pPr>
              <a:lnSpc>
                <a:spcPct val="300000"/>
              </a:lnSpc>
            </a:pPr>
            <a:r>
              <a:rPr lang="en-US" sz="2800" dirty="0"/>
              <a:t>Create new detection methods/signature as precise as possible</a:t>
            </a:r>
          </a:p>
          <a:p>
            <a:pPr>
              <a:lnSpc>
                <a:spcPct val="300000"/>
              </a:lnSpc>
            </a:pPr>
            <a:r>
              <a:rPr lang="en-US" sz="2800" dirty="0"/>
              <a:t>For fun</a:t>
            </a:r>
          </a:p>
          <a:p>
            <a:endParaRPr lang="en-MY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20C8BEF1-0278-7BD9-F8B8-88A4E0C33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53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A981B-7E69-3F53-0B3F-73E56175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advice from a script kiddie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B4474-4C0F-2D2A-A90D-4E3445CA4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3"/>
            <a:ext cx="10790040" cy="4555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800" dirty="0"/>
              <a:t>Know how to read code, or at least have access to AI to explain it to you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Know how to find solutions with vast amount of knowledge available on the internet by asking the right question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If you have a mentor, it will be better and will accelerate your growth (OPTIONAL)</a:t>
            </a:r>
            <a:endParaRPr lang="en-MY" sz="2800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59C33363-306C-F525-3FB5-55DDB962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593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9A2219EF-8D76-AE53-F17B-116269A1A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DED19D-8698-F092-55DD-AFC344C7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Introduction to windows API 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93FFB-5258-5FA5-263E-78ED1A1C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66" y="1536633"/>
            <a:ext cx="5632713" cy="4555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Application Programming Interface - code required to react with OS – stored in .DLL</a:t>
            </a:r>
            <a:endParaRPr lang="en-MY" sz="2400" dirty="0"/>
          </a:p>
          <a:p>
            <a:pPr>
              <a:spcAft>
                <a:spcPts val="600"/>
              </a:spcAft>
            </a:pPr>
            <a:r>
              <a:rPr lang="en-US" sz="2400" dirty="0"/>
              <a:t>.h VS .</a:t>
            </a:r>
            <a:r>
              <a:rPr lang="en-US" sz="2400" dirty="0" err="1"/>
              <a:t>dll</a:t>
            </a:r>
            <a:endParaRPr lang="en-US" sz="2400" dirty="0"/>
          </a:p>
          <a:p>
            <a:pPr lvl="1">
              <a:spcAft>
                <a:spcPts val="600"/>
              </a:spcAft>
            </a:pPr>
            <a:r>
              <a:rPr lang="en-US" sz="2400" dirty="0"/>
              <a:t>header (contains declarations of functions and external variables) – </a:t>
            </a:r>
            <a:r>
              <a:rPr lang="en-US" sz="2400" dirty="0" err="1"/>
              <a:t>eg</a:t>
            </a:r>
            <a:r>
              <a:rPr lang="en-US" sz="2400" dirty="0"/>
              <a:t> : </a:t>
            </a:r>
            <a:r>
              <a:rPr lang="en-US" sz="2400" b="1" dirty="0" err="1"/>
              <a:t>Windows.h</a:t>
            </a:r>
            <a:endParaRPr lang="en-US" sz="2400" b="1" dirty="0"/>
          </a:p>
          <a:p>
            <a:pPr lvl="1">
              <a:spcAft>
                <a:spcPts val="600"/>
              </a:spcAft>
            </a:pPr>
            <a:r>
              <a:rPr lang="en-US" sz="2400" dirty="0"/>
              <a:t>DLL = Dynamic Link Library – not linked to program’s executable file – stub used to load the library at the runtime – </a:t>
            </a:r>
            <a:r>
              <a:rPr lang="en-US" sz="2400" dirty="0" err="1"/>
              <a:t>eg</a:t>
            </a:r>
            <a:r>
              <a:rPr lang="en-US" sz="2400" dirty="0"/>
              <a:t>: </a:t>
            </a:r>
            <a:r>
              <a:rPr lang="en-US" sz="2400" b="1" dirty="0"/>
              <a:t>comdlg32.dll</a:t>
            </a:r>
          </a:p>
          <a:p>
            <a:pPr marL="152396" indent="0">
              <a:spcAft>
                <a:spcPts val="600"/>
              </a:spcAft>
              <a:buNone/>
            </a:pPr>
            <a:endParaRPr lang="en-US" dirty="0"/>
          </a:p>
          <a:p>
            <a:pPr marL="152396" indent="0">
              <a:spcAft>
                <a:spcPts val="600"/>
              </a:spcAft>
              <a:buNone/>
            </a:pPr>
            <a:endParaRPr lang="en-US" dirty="0"/>
          </a:p>
        </p:txBody>
      </p:sp>
      <p:pic>
        <p:nvPicPr>
          <p:cNvPr id="5" name="Picture 4" descr="Introduction to Windows API. In this article I will be talking about… | by  Kavishka Gihan | Medium">
            <a:extLst>
              <a:ext uri="{FF2B5EF4-FFF2-40B4-BE49-F238E27FC236}">
                <a16:creationId xmlns:a16="http://schemas.microsoft.com/office/drawing/2014/main" id="{8A02FE8E-C9DC-F5F7-769C-4E33030260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" r="471" b="-3"/>
          <a:stretch/>
        </p:blipFill>
        <p:spPr bwMode="auto">
          <a:xfrm>
            <a:off x="6852698" y="1536633"/>
            <a:ext cx="4531582" cy="4710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62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AC91-77F7-A87D-5E9A-C96C6401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Setting up a lab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1F042-7AD7-4D45-DD49-4E919CD13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</p:spPr>
        <p:txBody>
          <a:bodyPr wrap="square" anchor="t">
            <a:norm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n-US" sz="2800" dirty="0"/>
              <a:t>Virtual Machines – Attacker/Target – Kali/Windows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n-US" sz="2800" dirty="0"/>
              <a:t>Visual Studio Code – Write your own payload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n-US" sz="2800" dirty="0"/>
              <a:t>ChatGPT – to satisfy your quench for knowledge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n-US" sz="2800" dirty="0"/>
              <a:t>And an EDR that you can find (paid) or even better, for FREE!</a:t>
            </a:r>
          </a:p>
          <a:p>
            <a:pPr marL="0" indent="0">
              <a:spcAft>
                <a:spcPts val="600"/>
              </a:spcAft>
              <a:buNone/>
            </a:pPr>
            <a:endParaRPr lang="en-MY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66CA9EAF-AF48-DA1B-2060-23036CB1D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57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746C-75A4-C809-39C8-AEEBCF46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BEOTM (old version)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D6D78-631C-D85B-FEA9-4E265176F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597"/>
          <a:stretch>
            <a:fillRect/>
          </a:stretch>
        </p:blipFill>
        <p:spPr>
          <a:xfrm>
            <a:off x="1078982" y="1216152"/>
            <a:ext cx="8503929" cy="5265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ACA1BEB7-C369-2508-B154-2C98AC683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78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CB8E-C3E6-C436-F1CC-8CCA7081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Steroid version of BEOTM (Latest)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0C29B-5B2D-FD66-8C32-C5C2095AC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966" y="1356967"/>
            <a:ext cx="5754633" cy="5225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BEFD760B-4130-78F3-2DBA-958327E14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07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F5A6-B9C6-1BCC-FF35-4EFE0B9B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does it do?</a:t>
            </a:r>
            <a:endParaRPr lang="en-MY" dirty="0"/>
          </a:p>
        </p:txBody>
      </p:sp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6E680B1F-9E34-317D-C058-0C4372779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987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49A592-ED58-33D6-DE11-FBD30EA78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83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878AD0-02A1-0E20-DC36-2E47CFE21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7564"/>
            <a:ext cx="12192000" cy="3997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65A809-DF90-AA93-25A6-5C9466E7EF78}"/>
              </a:ext>
            </a:extLst>
          </p:cNvPr>
          <p:cNvSpPr txBox="1"/>
          <p:nvPr/>
        </p:nvSpPr>
        <p:spPr>
          <a:xfrm>
            <a:off x="101600" y="868218"/>
            <a:ext cx="396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BEOTMv3</a:t>
            </a:r>
            <a:endParaRPr lang="en-MY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845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3DD3D-A48C-F318-AF40-A34FDEC9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Process Injection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3F085-F718-AF09-0590-2EF78C9B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200000"/>
              </a:lnSpc>
            </a:pPr>
            <a:r>
              <a:rPr lang="en-US" dirty="0"/>
              <a:t>There are 101 ways to bypass EDR, but we are interested in one technique</a:t>
            </a:r>
          </a:p>
          <a:p>
            <a:pPr marL="342900" indent="-342900">
              <a:lnSpc>
                <a:spcPct val="200000"/>
              </a:lnSpc>
            </a:pPr>
            <a:r>
              <a:rPr lang="en-US" dirty="0"/>
              <a:t>And this technique has 101 ways to do it</a:t>
            </a:r>
          </a:p>
          <a:p>
            <a:pPr marL="342900" indent="-342900">
              <a:lnSpc>
                <a:spcPct val="200000"/>
              </a:lnSpc>
            </a:pPr>
            <a:r>
              <a:rPr lang="en-US" dirty="0"/>
              <a:t>No particular reason why we pick this</a:t>
            </a:r>
          </a:p>
          <a:p>
            <a:pPr marL="342900" indent="-342900">
              <a:lnSpc>
                <a:spcPct val="200000"/>
              </a:lnSpc>
            </a:pPr>
            <a:r>
              <a:rPr lang="en-US" dirty="0"/>
              <a:t>Over the years, this technique has evolved as detection also becoming more and more sophisticated</a:t>
            </a:r>
          </a:p>
          <a:p>
            <a:pPr marL="342900" indent="-342900">
              <a:lnSpc>
                <a:spcPct val="200000"/>
              </a:lnSpc>
            </a:pPr>
            <a:r>
              <a:rPr lang="en-US" dirty="0"/>
              <a:t>Journey to bypass EDR using this one technique (maybe not today)</a:t>
            </a:r>
          </a:p>
          <a:p>
            <a:pPr marL="0" indent="0">
              <a:buNone/>
            </a:pPr>
            <a:endParaRPr lang="en-US" dirty="0"/>
          </a:p>
          <a:p>
            <a:pPr marL="342900" indent="-342900"/>
            <a:endParaRPr lang="en-MY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B8450466-7BC0-DEDC-43B9-C0787C158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157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93C5-31AF-46A1-2BAF-1FEE9162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Process Injection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4618-1BB8-722E-002E-33213A77B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Technique used by adversaries to execute arbitrary code in the address space of separate live process</a:t>
            </a:r>
          </a:p>
          <a:p>
            <a:pPr>
              <a:lnSpc>
                <a:spcPct val="200000"/>
              </a:lnSpc>
            </a:pPr>
            <a:r>
              <a:rPr lang="en-US" dirty="0"/>
              <a:t>Evade detection (like a true </a:t>
            </a:r>
            <a:r>
              <a:rPr lang="en-US" dirty="0" err="1"/>
              <a:t>hackerman</a:t>
            </a:r>
            <a:r>
              <a:rPr lang="en-US" dirty="0"/>
              <a:t>)</a:t>
            </a:r>
          </a:p>
          <a:p>
            <a:pPr>
              <a:lnSpc>
                <a:spcPct val="200000"/>
              </a:lnSpc>
            </a:pPr>
            <a:r>
              <a:rPr lang="en-US" dirty="0"/>
              <a:t>Persistence</a:t>
            </a:r>
          </a:p>
          <a:p>
            <a:pPr>
              <a:lnSpc>
                <a:spcPct val="200000"/>
              </a:lnSpc>
            </a:pPr>
            <a:r>
              <a:rPr lang="en-US" dirty="0"/>
              <a:t>Steal Credentials</a:t>
            </a:r>
          </a:p>
          <a:p>
            <a:pPr>
              <a:lnSpc>
                <a:spcPct val="200000"/>
              </a:lnSpc>
            </a:pPr>
            <a:r>
              <a:rPr lang="en-US" dirty="0"/>
              <a:t>Or just, for fun!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2C3DF-8553-2541-36F2-E946C630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994" y="2397072"/>
            <a:ext cx="2159111" cy="2063856"/>
          </a:xfrm>
          <a:prstGeom prst="rect">
            <a:avLst/>
          </a:prstGeom>
        </p:spPr>
      </p:pic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A3C208B1-C377-C7E1-08EE-628BCD23E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084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D65AD2-216B-D100-03AA-B7A7CE34BA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1251"/>
          <a:stretch/>
        </p:blipFill>
        <p:spPr>
          <a:xfrm>
            <a:off x="180279" y="161490"/>
            <a:ext cx="11827082" cy="6534092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DA5693-358D-7BDA-2F58-26CE3DE06A0E}"/>
              </a:ext>
            </a:extLst>
          </p:cNvPr>
          <p:cNvSpPr txBox="1"/>
          <p:nvPr/>
        </p:nvSpPr>
        <p:spPr>
          <a:xfrm>
            <a:off x="313593" y="4581425"/>
            <a:ext cx="34466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MITRE ATT&amp;CK Framework</a:t>
            </a:r>
            <a:endParaRPr lang="en-MY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main-qimg-8fe3a48b9d724d05dcb01a2591e5508e-lq (602×939)">
            <a:extLst>
              <a:ext uri="{FF2B5EF4-FFF2-40B4-BE49-F238E27FC236}">
                <a16:creationId xmlns:a16="http://schemas.microsoft.com/office/drawing/2014/main" id="{EB584EA8-202C-B8CE-847C-5FA7E06BD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44" y="3629608"/>
            <a:ext cx="1376049" cy="214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offensive-security (Offsec) · GitHub">
            <a:extLst>
              <a:ext uri="{FF2B5EF4-FFF2-40B4-BE49-F238E27FC236}">
                <a16:creationId xmlns:a16="http://schemas.microsoft.com/office/drawing/2014/main" id="{62173DA0-8BCE-9A7E-9843-F2B4FBFE8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796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4BE2-9B1D-0841-0B35-FC742FFFD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ABC of Process Injection</a:t>
            </a:r>
            <a:endParaRPr lang="en-MY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215DC5D-9522-E33E-757F-8B555CF24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736159"/>
              </p:ext>
            </p:extLst>
          </p:nvPr>
        </p:nvGraphicFramePr>
        <p:xfrm>
          <a:off x="950913" y="1536700"/>
          <a:ext cx="10290175" cy="4554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7D5930EF-6E8D-C91B-5C48-0253AEABA09A}"/>
              </a:ext>
            </a:extLst>
          </p:cNvPr>
          <p:cNvSpPr/>
          <p:nvPr/>
        </p:nvSpPr>
        <p:spPr>
          <a:xfrm>
            <a:off x="3330329" y="3209731"/>
            <a:ext cx="662473" cy="43853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229DAA3-2583-F9B9-0C4E-3CC33A9FD760}"/>
              </a:ext>
            </a:extLst>
          </p:cNvPr>
          <p:cNvSpPr/>
          <p:nvPr/>
        </p:nvSpPr>
        <p:spPr>
          <a:xfrm>
            <a:off x="6040981" y="3209731"/>
            <a:ext cx="662473" cy="43853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0AD42CD-096A-F5D8-CFB3-7C057E800CB7}"/>
              </a:ext>
            </a:extLst>
          </p:cNvPr>
          <p:cNvSpPr/>
          <p:nvPr/>
        </p:nvSpPr>
        <p:spPr>
          <a:xfrm>
            <a:off x="8420396" y="3209731"/>
            <a:ext cx="662473" cy="43853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1B44BEA6-991F-EA58-D043-D71DDAF70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065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66AA-F6CA-4A2A-A355-43FF0132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Get/Create Process</a:t>
            </a:r>
            <a:endParaRPr lang="en-MY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DA9A2E-FC2C-B18F-18E7-B9B51CFD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13" y="1536700"/>
            <a:ext cx="10290175" cy="45545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obtain handle (open / create a process)</a:t>
            </a:r>
          </a:p>
          <a:p>
            <a:pPr>
              <a:lnSpc>
                <a:spcPct val="200000"/>
              </a:lnSpc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e.g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: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CreateRemoteThread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MY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85811-D502-51E5-1A20-B1F162D51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12" y="3045161"/>
            <a:ext cx="8818984" cy="3219472"/>
          </a:xfrm>
          <a:prstGeom prst="rect">
            <a:avLst/>
          </a:prstGeom>
        </p:spPr>
      </p:pic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7D9E3BA7-2659-0636-091C-F2E27CC0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627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2F3D-DADB-4B18-73F7-DCD426C3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Payload to Process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BD140-2416-1F9A-E9F8-4FD34EB0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ways to transfer data to target process</a:t>
            </a:r>
          </a:p>
          <a:p>
            <a:pPr>
              <a:lnSpc>
                <a:spcPct val="200000"/>
              </a:lnSpc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e.g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: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VirtualAllocEx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WriteProcessMemory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39700" indent="0">
              <a:buNone/>
            </a:pPr>
            <a:endParaRPr lang="en-MY" dirty="0"/>
          </a:p>
          <a:p>
            <a:pPr marL="139700" indent="0">
              <a:buNone/>
            </a:pP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A719C-BEC4-A6C0-5E87-75FFE29BB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40" y="3035714"/>
            <a:ext cx="4744951" cy="3010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AAC1F-745E-742E-6E44-D430A0E0A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99" y="3035714"/>
            <a:ext cx="4880467" cy="3503239"/>
          </a:xfrm>
          <a:prstGeom prst="rect">
            <a:avLst/>
          </a:prstGeom>
        </p:spPr>
      </p:pic>
      <p:pic>
        <p:nvPicPr>
          <p:cNvPr id="6" name="Picture 4" descr="offensive-security (Offsec) · GitHub">
            <a:extLst>
              <a:ext uri="{FF2B5EF4-FFF2-40B4-BE49-F238E27FC236}">
                <a16:creationId xmlns:a16="http://schemas.microsoft.com/office/drawing/2014/main" id="{0971435A-D4F7-4A29-8855-859BA756A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717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9FC7-8141-A332-9A26-95632F69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A54B-8F19-01F3-E595-6BD1F8DF1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start the execution of the injected section</a:t>
            </a:r>
          </a:p>
          <a:p>
            <a:pPr>
              <a:lnSpc>
                <a:spcPct val="200000"/>
              </a:lnSpc>
            </a:pPr>
            <a:r>
              <a:rPr lang="en-MY" dirty="0" err="1">
                <a:latin typeface="Verdana" panose="020B0604030504040204" pitchFamily="34" charset="0"/>
                <a:ea typeface="Verdana" panose="020B0604030504040204" pitchFamily="34" charset="0"/>
              </a:rPr>
              <a:t>e.g</a:t>
            </a:r>
            <a:r>
              <a:rPr lang="en-MY" dirty="0">
                <a:latin typeface="Verdana" panose="020B0604030504040204" pitchFamily="34" charset="0"/>
                <a:ea typeface="Verdana" panose="020B0604030504040204" pitchFamily="34" charset="0"/>
              </a:rPr>
              <a:t> : </a:t>
            </a:r>
            <a:r>
              <a:rPr lang="en-MY" b="1" dirty="0" err="1">
                <a:latin typeface="Verdana" panose="020B0604030504040204" pitchFamily="34" charset="0"/>
                <a:ea typeface="Verdana" panose="020B0604030504040204" pitchFamily="34" charset="0"/>
              </a:rPr>
              <a:t>CreateRemoteThread</a:t>
            </a:r>
            <a:endParaRPr lang="en-MY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39700" indent="0">
              <a:buNone/>
            </a:pPr>
            <a:endParaRPr lang="en-MY" dirty="0"/>
          </a:p>
          <a:p>
            <a:pPr marL="139700" indent="0">
              <a:buNone/>
            </a:pP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874EB-6F33-55F3-0015-859C3F596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966" y="3123142"/>
            <a:ext cx="4286250" cy="2809875"/>
          </a:xfrm>
          <a:prstGeom prst="rect">
            <a:avLst/>
          </a:prstGeom>
        </p:spPr>
      </p:pic>
      <p:pic>
        <p:nvPicPr>
          <p:cNvPr id="5" name="Picture 4" descr="offensive-security (Offsec) · GitHub">
            <a:extLst>
              <a:ext uri="{FF2B5EF4-FFF2-40B4-BE49-F238E27FC236}">
                <a16:creationId xmlns:a16="http://schemas.microsoft.com/office/drawing/2014/main" id="{2C7ADD81-F7C3-083F-5887-2DE2005C8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512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02A3-2E78-7F67-BEF1-FFB0117D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Concept : Vanilla Process Injection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0A9C6-FA69-FA93-C941-20AF6EE1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MY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3CF26502-D732-9D24-9D8C-D636A0BEE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682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5101-3AE7-B155-8C5E-EC90F5AB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557" y="384367"/>
            <a:ext cx="10290000" cy="763600"/>
          </a:xfrm>
        </p:spPr>
        <p:txBody>
          <a:bodyPr/>
          <a:lstStyle/>
          <a:p>
            <a:r>
              <a:rPr lang="en-US" dirty="0"/>
              <a:t>There are infinite ways to do process injection…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864A5-B895-5481-7522-CACDA4E1E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MY" sz="3200" b="1" dirty="0" err="1">
                <a:latin typeface="Univers Condensed" panose="020B0506020202050204" pitchFamily="34" charset="0"/>
              </a:rPr>
              <a:t>Doppelgänging</a:t>
            </a:r>
            <a:r>
              <a:rPr lang="en-US" sz="3200" b="1" dirty="0">
                <a:latin typeface="Univers Condensed" panose="020B0506020202050204" pitchFamily="34" charset="0"/>
              </a:rPr>
              <a:t>? </a:t>
            </a:r>
            <a:r>
              <a:rPr lang="en-US" sz="3200" b="1" dirty="0">
                <a:solidFill>
                  <a:schemeClr val="accent6"/>
                </a:solidFill>
                <a:latin typeface="Univers Condensed" panose="020B0506020202050204" pitchFamily="34" charset="0"/>
              </a:rPr>
              <a:t>Early bird APC Queue</a:t>
            </a:r>
            <a:r>
              <a:rPr lang="en-US" sz="3200" b="1" dirty="0">
                <a:latin typeface="Univers Condensed" panose="020B0506020202050204" pitchFamily="34" charset="0"/>
              </a:rPr>
              <a:t>? Direct/Indirect </a:t>
            </a:r>
            <a:r>
              <a:rPr lang="en-US" sz="3200" b="1" dirty="0" err="1">
                <a:latin typeface="Univers Condensed" panose="020B0506020202050204" pitchFamily="34" charset="0"/>
              </a:rPr>
              <a:t>Syscall</a:t>
            </a:r>
            <a:r>
              <a:rPr lang="en-US" sz="3200" b="1" dirty="0">
                <a:latin typeface="Univers Condensed" panose="020B0506020202050204" pitchFamily="34" charset="0"/>
              </a:rPr>
              <a:t>? P/Invoke? Proc Memory? D/Invoke? API Hashing? DLL Unhooking? </a:t>
            </a:r>
            <a:r>
              <a:rPr lang="en-US" sz="3200" b="1" dirty="0" err="1">
                <a:latin typeface="Univers Condensed" panose="020B0506020202050204" pitchFamily="34" charset="0"/>
              </a:rPr>
              <a:t>ProcessDynamicCodePolicy</a:t>
            </a:r>
            <a:r>
              <a:rPr lang="en-US" sz="3200" b="1" dirty="0">
                <a:latin typeface="Univers Condensed" panose="020B0506020202050204" pitchFamily="34" charset="0"/>
              </a:rPr>
              <a:t>? EWM injection? </a:t>
            </a:r>
            <a:r>
              <a:rPr lang="en-US" sz="3200" b="1" dirty="0" err="1">
                <a:latin typeface="Univers Condensed" panose="020B0506020202050204" pitchFamily="34" charset="0"/>
              </a:rPr>
              <a:t>AtomBombing</a:t>
            </a:r>
            <a:r>
              <a:rPr lang="en-US" sz="3200" b="1" dirty="0">
                <a:latin typeface="Univers Condensed" panose="020B0506020202050204" pitchFamily="34" charset="0"/>
              </a:rPr>
              <a:t>? VDSO Hijacking? </a:t>
            </a:r>
            <a:r>
              <a:rPr lang="en-US" sz="3200" b="1" dirty="0" err="1">
                <a:latin typeface="Univers Condensed" panose="020B0506020202050204" pitchFamily="34" charset="0"/>
              </a:rPr>
              <a:t>ListPlanting</a:t>
            </a:r>
            <a:r>
              <a:rPr lang="en-US" sz="3200" b="1" dirty="0">
                <a:latin typeface="Univers Condensed" panose="020B0506020202050204" pitchFamily="34" charset="0"/>
              </a:rPr>
              <a:t>? </a:t>
            </a:r>
            <a:r>
              <a:rPr lang="en-US" sz="3200" b="1" dirty="0" err="1">
                <a:latin typeface="Univers Condensed" panose="020B0506020202050204" pitchFamily="34" charset="0"/>
              </a:rPr>
              <a:t>Ptrace</a:t>
            </a:r>
            <a:r>
              <a:rPr lang="en-US" sz="3200" b="1" dirty="0">
                <a:latin typeface="Univers Condensed" panose="020B0506020202050204" pitchFamily="34" charset="0"/>
              </a:rPr>
              <a:t> </a:t>
            </a:r>
            <a:r>
              <a:rPr lang="en-US" sz="3200" b="1" dirty="0" err="1">
                <a:latin typeface="Univers Condensed" panose="020B0506020202050204" pitchFamily="34" charset="0"/>
              </a:rPr>
              <a:t>Syscalls</a:t>
            </a:r>
            <a:r>
              <a:rPr lang="en-US" sz="3200" b="1" dirty="0">
                <a:latin typeface="Univers Condensed" panose="020B0506020202050204" pitchFamily="34" charset="0"/>
              </a:rPr>
              <a:t>? Inline hooking? Thread Local Storage (TLS) Injection? Hell’s Gate? </a:t>
            </a:r>
            <a:r>
              <a:rPr lang="en-MY" sz="3200" b="1" dirty="0">
                <a:latin typeface="Univers Condensed" panose="020B0506020202050204" pitchFamily="34" charset="0"/>
              </a:rPr>
              <a:t>Kernel Driver Injection? </a:t>
            </a:r>
            <a:r>
              <a:rPr lang="en-US" sz="3200" b="1" dirty="0">
                <a:latin typeface="Univers Condensed" panose="020B0506020202050204" pitchFamily="34" charset="0"/>
              </a:rPr>
              <a:t>Halo’s Gate? Tartarus Gate? </a:t>
            </a:r>
            <a:r>
              <a:rPr lang="en-US" sz="3200" b="1" dirty="0" err="1">
                <a:latin typeface="Univers Condensed" panose="020B0506020202050204" pitchFamily="34" charset="0"/>
              </a:rPr>
              <a:t>PoolParty</a:t>
            </a:r>
            <a:r>
              <a:rPr lang="en-US" sz="3200" b="1" dirty="0">
                <a:latin typeface="Univers Condensed" panose="020B0506020202050204" pitchFamily="34" charset="0"/>
              </a:rPr>
              <a:t>? </a:t>
            </a:r>
            <a:r>
              <a:rPr lang="en-US" sz="3200" b="1" dirty="0" err="1">
                <a:latin typeface="Univers Condensed" panose="020B0506020202050204" pitchFamily="34" charset="0"/>
              </a:rPr>
              <a:t>TxF</a:t>
            </a:r>
            <a:r>
              <a:rPr lang="en-US" sz="3200" b="1" dirty="0">
                <a:latin typeface="Univers Condensed" panose="020B0506020202050204" pitchFamily="34" charset="0"/>
              </a:rPr>
              <a:t> </a:t>
            </a:r>
            <a:r>
              <a:rPr lang="en-MY" sz="3200" b="1" dirty="0" err="1">
                <a:latin typeface="Univers Condensed" panose="020B0506020202050204" pitchFamily="34" charset="0"/>
              </a:rPr>
              <a:t>Doppelgänging</a:t>
            </a:r>
            <a:r>
              <a:rPr lang="en-MY" sz="3200" b="1" dirty="0">
                <a:latin typeface="Univers Condensed" panose="020B0506020202050204" pitchFamily="34" charset="0"/>
              </a:rPr>
              <a:t>? Fork Bombing? Import Table Hooking? Kernel Code Patching + APC ? etc…</a:t>
            </a:r>
            <a:endParaRPr lang="en-MY" sz="3200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BFB4C17F-7BFA-D3A8-B8D7-E2F3FD937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841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2077-7315-566F-02A1-416CE02E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the technique does not matter if you don’t know why are you using it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9435-38FC-3EAE-DDFE-605C0A15A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If you just compile the code and run it</a:t>
            </a:r>
          </a:p>
          <a:p>
            <a:r>
              <a:rPr lang="en-US" sz="3200" dirty="0"/>
              <a:t>Thinking you could somehow bypass detection</a:t>
            </a:r>
          </a:p>
          <a:p>
            <a:r>
              <a:rPr lang="en-US" sz="3200" dirty="0"/>
              <a:t>Without understand how it works</a:t>
            </a:r>
          </a:p>
          <a:p>
            <a:r>
              <a:rPr lang="en-US" sz="3200" dirty="0"/>
              <a:t>Or how the detection that you want to bypass works</a:t>
            </a:r>
          </a:p>
          <a:p>
            <a:r>
              <a:rPr lang="en-US" sz="3200" dirty="0"/>
              <a:t>You are jumping into a rabbit hole</a:t>
            </a:r>
          </a:p>
          <a:p>
            <a:endParaRPr lang="en-US" sz="3200" dirty="0"/>
          </a:p>
          <a:p>
            <a:r>
              <a:rPr lang="en-US" sz="3200" dirty="0"/>
              <a:t>Take one step backward</a:t>
            </a:r>
          </a:p>
          <a:p>
            <a:r>
              <a:rPr lang="en-US" sz="3200" dirty="0"/>
              <a:t>And think.. </a:t>
            </a:r>
            <a:endParaRPr lang="en-MY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D82689-0438-FE18-4AB6-0597DF73A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69"/>
          <a:stretch>
            <a:fillRect/>
          </a:stretch>
        </p:blipFill>
        <p:spPr bwMode="auto">
          <a:xfrm>
            <a:off x="6095967" y="4480559"/>
            <a:ext cx="2152727" cy="225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BB9060CC-9E95-C366-226C-AD391496B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89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9E11-3A7F-DA3E-DC12-0D223FE8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Signature Based Detection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0C25B-460A-5BC4-C6CF-9D9AE459A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YARA rules</a:t>
            </a:r>
          </a:p>
          <a:p>
            <a:pPr>
              <a:lnSpc>
                <a:spcPct val="200000"/>
              </a:lnSpc>
            </a:pPr>
            <a:r>
              <a:rPr lang="en-US" dirty="0"/>
              <a:t>Contains combination of multiple bytes -&gt; signature</a:t>
            </a:r>
          </a:p>
          <a:p>
            <a:pPr>
              <a:lnSpc>
                <a:spcPct val="200000"/>
              </a:lnSpc>
            </a:pPr>
            <a:r>
              <a:rPr lang="en-US" dirty="0"/>
              <a:t>When an EDR monitors a process, will find for the signature if they exist</a:t>
            </a:r>
          </a:p>
          <a:p>
            <a:pPr>
              <a:lnSpc>
                <a:spcPct val="200000"/>
              </a:lnSpc>
            </a:pPr>
            <a:r>
              <a:rPr lang="en-US" dirty="0"/>
              <a:t>If they exist, process will get interrupted/stopped -&gt; your payload wont run</a:t>
            </a:r>
            <a:endParaRPr lang="en-MY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4FEE5268-8A2C-04B9-246E-8B7AD6AC1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109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offensive-security (Offsec) · GitHub">
            <a:extLst>
              <a:ext uri="{FF2B5EF4-FFF2-40B4-BE49-F238E27FC236}">
                <a16:creationId xmlns:a16="http://schemas.microsoft.com/office/drawing/2014/main" id="{C1D18759-835D-83AE-65F6-730A3A4C8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70B5E5-AEE4-55BA-0BCC-E6947738E8A2}"/>
              </a:ext>
            </a:extLst>
          </p:cNvPr>
          <p:cNvSpPr txBox="1"/>
          <p:nvPr/>
        </p:nvSpPr>
        <p:spPr>
          <a:xfrm>
            <a:off x="377505" y="578840"/>
            <a:ext cx="1057174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instead of jumping into the rabbit hole, why don’t we understand how this EDR works?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READ THE .. MANUAL!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For example, we want to understand how threads call stack monitoring works in BEOTM;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Continuous monitoring of the RIP instruction register for each thread.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Pause thread if RIP points to an exported routine/function from a DLL or a specified area and check if the routine/function is listed in </a:t>
            </a:r>
            <a:r>
              <a:rPr lang="en-US" sz="1800" b="1" i="1" dirty="0" err="1">
                <a:latin typeface="Verdana" panose="020B0604030504040204" pitchFamily="34" charset="0"/>
                <a:ea typeface="Verdana" panose="020B0604030504040204" pitchFamily="34" charset="0"/>
              </a:rPr>
              <a:t>TriggeringFunctions.json</a:t>
            </a:r>
            <a:r>
              <a:rPr lang="en-US" sz="1800" b="1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for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Unwind the thread's call stack.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Analyze parameters of stacked routines.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Stop the process and issue an alert if a parameter's byte sequence matches a pattern in </a:t>
            </a:r>
            <a:r>
              <a:rPr lang="en-US" sz="1800" b="1" i="1" dirty="0" err="1">
                <a:latin typeface="Verdana" panose="020B0604030504040204" pitchFamily="34" charset="0"/>
                <a:ea typeface="Verdana" panose="020B0604030504040204" pitchFamily="34" charset="0"/>
              </a:rPr>
              <a:t>YaroRules.json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MY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323207-13D7-5C15-609F-9E79ABA5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607" y="967577"/>
            <a:ext cx="4382469" cy="3109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6E204-5D12-D73D-14D3-AD9323BE1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075" y="967576"/>
            <a:ext cx="4372707" cy="3206261"/>
          </a:xfrm>
          <a:prstGeom prst="rect">
            <a:avLst/>
          </a:prstGeom>
        </p:spPr>
      </p:pic>
      <p:pic>
        <p:nvPicPr>
          <p:cNvPr id="2050" name="Picture 2" descr="Anime Girl Reading A Book GIFs | Tenor">
            <a:extLst>
              <a:ext uri="{FF2B5EF4-FFF2-40B4-BE49-F238E27FC236}">
                <a16:creationId xmlns:a16="http://schemas.microsoft.com/office/drawing/2014/main" id="{CB7426FF-822E-3578-8186-AECF09A06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451" y="1477329"/>
            <a:ext cx="2521500" cy="252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488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83CD7-94F6-EE08-1F72-9762C5EF8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57" y="397324"/>
            <a:ext cx="7201485" cy="62434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918445-7439-1CFA-5F37-86C1762F46C0}"/>
              </a:ext>
            </a:extLst>
          </p:cNvPr>
          <p:cNvSpPr txBox="1"/>
          <p:nvPr/>
        </p:nvSpPr>
        <p:spPr>
          <a:xfrm>
            <a:off x="1035697" y="139959"/>
            <a:ext cx="998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Conditional diagram on how threads call stack monitoring works on BEOTM : </a:t>
            </a:r>
            <a:endParaRPr lang="en-MY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4" descr="offensive-security (Offsec) · GitHub">
            <a:extLst>
              <a:ext uri="{FF2B5EF4-FFF2-40B4-BE49-F238E27FC236}">
                <a16:creationId xmlns:a16="http://schemas.microsoft.com/office/drawing/2014/main" id="{33F7FF92-B264-42A1-6958-26E31C563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667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D49ACB-34E9-8215-C372-05FBE0833D79}"/>
              </a:ext>
            </a:extLst>
          </p:cNvPr>
          <p:cNvSpPr txBox="1"/>
          <p:nvPr/>
        </p:nvSpPr>
        <p:spPr>
          <a:xfrm>
            <a:off x="936148" y="3289042"/>
            <a:ext cx="662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What is in </a:t>
            </a:r>
            <a:r>
              <a:rPr lang="en-US" b="1" i="1" dirty="0" err="1">
                <a:latin typeface="Verdana" panose="020B0604030504040204" pitchFamily="34" charset="0"/>
                <a:ea typeface="Verdana" panose="020B0604030504040204" pitchFamily="34" charset="0"/>
              </a:rPr>
              <a:t>YaroRules.json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MY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E8EFF-C7FD-7B16-45D6-1CE8DE1FF96F}"/>
              </a:ext>
            </a:extLst>
          </p:cNvPr>
          <p:cNvSpPr txBox="1"/>
          <p:nvPr/>
        </p:nvSpPr>
        <p:spPr>
          <a:xfrm>
            <a:off x="1016780" y="3658374"/>
            <a:ext cx="6086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Contains pattern for the EDR to identify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contains default pattern for </a:t>
            </a:r>
            <a:r>
              <a:rPr lang="en-U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reverse_tcp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shellcode generated by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Metasploit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MY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27D34F-11FA-EF6D-E1BE-2EAB6B9DB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13" y="4839252"/>
            <a:ext cx="6086475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E10505-E5CF-22E5-AD9A-AF08D3F6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120" y="3059205"/>
            <a:ext cx="5085960" cy="29531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C49609-DE99-D396-E6AA-495167DD0D2F}"/>
              </a:ext>
            </a:extLst>
          </p:cNvPr>
          <p:cNvSpPr txBox="1"/>
          <p:nvPr/>
        </p:nvSpPr>
        <p:spPr>
          <a:xfrm>
            <a:off x="936148" y="1420057"/>
            <a:ext cx="61671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Contains functions that are hooked by the EDR.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High likely contains our vanilla process injection functions.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48C7E8-BE63-DE2D-5E70-B6F30039C21D}"/>
              </a:ext>
            </a:extLst>
          </p:cNvPr>
          <p:cNvSpPr txBox="1"/>
          <p:nvPr/>
        </p:nvSpPr>
        <p:spPr>
          <a:xfrm>
            <a:off x="936147" y="1104348"/>
            <a:ext cx="662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What is in </a:t>
            </a:r>
            <a:r>
              <a:rPr lang="en-US" b="1" i="1" dirty="0" err="1">
                <a:latin typeface="Verdana" panose="020B0604030504040204" pitchFamily="34" charset="0"/>
                <a:ea typeface="Verdana" panose="020B0604030504040204" pitchFamily="34" charset="0"/>
              </a:rPr>
              <a:t>TriggeringFunctions.json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MY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4" descr="offensive-security (Offsec) · GitHub">
            <a:extLst>
              <a:ext uri="{FF2B5EF4-FFF2-40B4-BE49-F238E27FC236}">
                <a16:creationId xmlns:a16="http://schemas.microsoft.com/office/drawing/2014/main" id="{B4A32018-7C08-8A13-5848-ACBE6DB6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913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DB3A9-A130-F2B6-8166-8448DBE35BC4}"/>
              </a:ext>
            </a:extLst>
          </p:cNvPr>
          <p:cNvSpPr txBox="1"/>
          <p:nvPr/>
        </p:nvSpPr>
        <p:spPr>
          <a:xfrm>
            <a:off x="973123" y="1887523"/>
            <a:ext cx="3624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8219D-3A13-0239-F86D-F2FF2F319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388" y="3418829"/>
            <a:ext cx="7703975" cy="3341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AE38EA-F9ED-607C-877E-453A5C965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205274"/>
            <a:ext cx="6873066" cy="3094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0DD5FB-6177-7E46-40CE-97365F81AEF8}"/>
              </a:ext>
            </a:extLst>
          </p:cNvPr>
          <p:cNvSpPr txBox="1"/>
          <p:nvPr/>
        </p:nvSpPr>
        <p:spPr>
          <a:xfrm>
            <a:off x="7268547" y="1518191"/>
            <a:ext cx="464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Vanilla Process Injection VS BEOTM</a:t>
            </a:r>
            <a:endParaRPr lang="en-MY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4878E-5811-E879-3810-93FD34C39750}"/>
              </a:ext>
            </a:extLst>
          </p:cNvPr>
          <p:cNvSpPr txBox="1"/>
          <p:nvPr/>
        </p:nvSpPr>
        <p:spPr>
          <a:xfrm>
            <a:off x="1387437" y="4720097"/>
            <a:ext cx="320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APC Queue VS BEOTM</a:t>
            </a:r>
            <a:endParaRPr lang="en-MY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6CF9B97D-A295-253B-1CBB-9044B163C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445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323C9-E5F9-2A49-7FCF-12C9E94DD4FF}"/>
              </a:ext>
            </a:extLst>
          </p:cNvPr>
          <p:cNvSpPr txBox="1"/>
          <p:nvPr/>
        </p:nvSpPr>
        <p:spPr>
          <a:xfrm>
            <a:off x="310392" y="612396"/>
            <a:ext cx="10024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IDEAS : Bypass BEOTM Threads Call Stack Monitoring</a:t>
            </a:r>
            <a:endParaRPr lang="en-MY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16850-8BCB-0558-E67A-264875987568}"/>
              </a:ext>
            </a:extLst>
          </p:cNvPr>
          <p:cNvSpPr txBox="1"/>
          <p:nvPr/>
        </p:nvSpPr>
        <p:spPr>
          <a:xfrm>
            <a:off x="310393" y="1384183"/>
            <a:ext cx="46619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Use custom/different shellcode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Not generated by Metasploit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No signature/pattern in </a:t>
            </a:r>
            <a:r>
              <a:rPr lang="en-US" b="1" i="1" dirty="0" err="1">
                <a:latin typeface="Verdana" panose="020B0604030504040204" pitchFamily="34" charset="0"/>
                <a:ea typeface="Verdana" panose="020B0604030504040204" pitchFamily="34" charset="0"/>
              </a:rPr>
              <a:t>YaroRules.json</a:t>
            </a:r>
            <a:endParaRPr lang="en-US" b="1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Maintain API calls (Vanilla/APC)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Bypassed?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Profit!!</a:t>
            </a:r>
            <a:endParaRPr lang="en-MY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146" name="Picture 2" descr="Mega64 Hacking In Progress GIF - Mega64 Hacking In Progress Hacker -  Discover &amp; Share GIFs">
            <a:extLst>
              <a:ext uri="{FF2B5EF4-FFF2-40B4-BE49-F238E27FC236}">
                <a16:creationId xmlns:a16="http://schemas.microsoft.com/office/drawing/2014/main" id="{4136C890-CD46-24F0-FD21-158B092A6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970" y="1467502"/>
            <a:ext cx="5337054" cy="300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AD46F18B-BA09-2B38-5CE6-AD4D96A83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630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7AE48-C2D7-902B-3805-3D551886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BEOTMv3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7F05B-A97C-4078-CE4B-1E357A49B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- Demo</a:t>
            </a:r>
            <a:endParaRPr lang="en-MY" dirty="0"/>
          </a:p>
        </p:txBody>
      </p:sp>
      <p:pic>
        <p:nvPicPr>
          <p:cNvPr id="4" name="Picture 4" descr="offensive-security (Offsec) · GitHub">
            <a:extLst>
              <a:ext uri="{FF2B5EF4-FFF2-40B4-BE49-F238E27FC236}">
                <a16:creationId xmlns:a16="http://schemas.microsoft.com/office/drawing/2014/main" id="{7926FFD8-5B41-EA3E-5FFA-A4FBD2232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967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9ABE-177F-9303-8267-911757B0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END </a:t>
            </a:r>
            <a:br>
              <a:rPr lang="en-US" dirty="0"/>
            </a:br>
            <a:r>
              <a:rPr lang="en-US" sz="1400" dirty="0"/>
              <a:t>(for now..)</a:t>
            </a:r>
            <a:endParaRPr lang="en-MY" sz="1400" dirty="0"/>
          </a:p>
        </p:txBody>
      </p:sp>
      <p:pic>
        <p:nvPicPr>
          <p:cNvPr id="3" name="Picture 4" descr="offensive-security (Offsec) · GitHub">
            <a:extLst>
              <a:ext uri="{FF2B5EF4-FFF2-40B4-BE49-F238E27FC236}">
                <a16:creationId xmlns:a16="http://schemas.microsoft.com/office/drawing/2014/main" id="{078AC4D7-207E-E6A5-6966-5F6BE4AB5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246" y="5559552"/>
            <a:ext cx="1120834" cy="112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466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A872A0-8A88-453C-5801-2BF1580D9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964169"/>
            <a:ext cx="11950700" cy="49296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608821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Mastering Code by Slidesgo</Template>
  <TotalTime>10761</TotalTime>
  <Words>957</Words>
  <Application>Microsoft Office PowerPoint</Application>
  <PresentationFormat>Widescreen</PresentationFormat>
  <Paragraphs>130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Aptos</vt:lpstr>
      <vt:lpstr>Arial</vt:lpstr>
      <vt:lpstr>Darker Grotesque SemiBold</vt:lpstr>
      <vt:lpstr>IBM Plex Mono</vt:lpstr>
      <vt:lpstr>IBM Plex Mono SemiBold</vt:lpstr>
      <vt:lpstr>Inter</vt:lpstr>
      <vt:lpstr>Lato</vt:lpstr>
      <vt:lpstr>Roboto</vt:lpstr>
      <vt:lpstr>Space Grotesk</vt:lpstr>
      <vt:lpstr>Space Grotesk Light</vt:lpstr>
      <vt:lpstr>Space Grotesk Medium</vt:lpstr>
      <vt:lpstr>Univers Condensed</vt:lpstr>
      <vt:lpstr>Verdana</vt:lpstr>
      <vt:lpstr>Mastering Code by Slidesgo</vt:lpstr>
      <vt:lpstr>Slidesgo Final Pages</vt:lpstr>
      <vt:lpstr>EDR 101</vt:lpstr>
      <vt:lpstr>What is it?</vt:lpstr>
      <vt:lpstr>Detection Methods</vt:lpstr>
      <vt:lpstr>Why do we need to bypass EDR?</vt:lpstr>
      <vt:lpstr>Random advice from a script kiddie</vt:lpstr>
      <vt:lpstr>Introduction to windows API </vt:lpstr>
      <vt:lpstr>Setting up a lab</vt:lpstr>
      <vt:lpstr>Introduction to BEOTM (old version)</vt:lpstr>
      <vt:lpstr>Steroid version of BEOTM (Latest)</vt:lpstr>
      <vt:lpstr>What does it do?</vt:lpstr>
      <vt:lpstr>PowerPoint Presentation</vt:lpstr>
      <vt:lpstr>PowerPoint Presentation</vt:lpstr>
      <vt:lpstr>Introduction to Process Injection</vt:lpstr>
      <vt:lpstr>What is Process Injection</vt:lpstr>
      <vt:lpstr>PowerPoint Presentation</vt:lpstr>
      <vt:lpstr>The ABC of Process Injection</vt:lpstr>
      <vt:lpstr>Get/Create Process</vt:lpstr>
      <vt:lpstr>Transfer Payload to Process</vt:lpstr>
      <vt:lpstr>Execution</vt:lpstr>
      <vt:lpstr>Proof of Concept : Vanilla Process Injection</vt:lpstr>
      <vt:lpstr>There are infinite ways to do process injection…</vt:lpstr>
      <vt:lpstr>But the technique does not matter if you don’t know why are you using it</vt:lpstr>
      <vt:lpstr>Signature Based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BEOTMv3</vt:lpstr>
      <vt:lpstr>END  (for now..)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yunaranyancat</dc:creator>
  <cp:lastModifiedBy>Zulfiqar Wardi</cp:lastModifiedBy>
  <cp:revision>14</cp:revision>
  <dcterms:created xsi:type="dcterms:W3CDTF">2025-10-13T07:32:17Z</dcterms:created>
  <dcterms:modified xsi:type="dcterms:W3CDTF">2025-10-24T13:44:45Z</dcterms:modified>
</cp:coreProperties>
</file>